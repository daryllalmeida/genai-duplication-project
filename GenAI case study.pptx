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81" r:id="rId2"/>
    <p:sldId id="279" r:id="rId3"/>
    <p:sldId id="280" r:id="rId4"/>
    <p:sldId id="284" r:id="rId5"/>
    <p:sldId id="282" r:id="rId6"/>
    <p:sldId id="285" r:id="rId7"/>
    <p:sldId id="286" r:id="rId8"/>
    <p:sldId id="287" r:id="rId9"/>
    <p:sldId id="288" r:id="rId10"/>
    <p:sldId id="268" r:id="rId11"/>
    <p:sldId id="264" r:id="rId12"/>
    <p:sldId id="289" r:id="rId13"/>
    <p:sldId id="290" r:id="rId14"/>
    <p:sldId id="277" r:id="rId15"/>
    <p:sldId id="291" r:id="rId16"/>
    <p:sldId id="294" r:id="rId17"/>
    <p:sldId id="292" r:id="rId18"/>
    <p:sldId id="269" r:id="rId19"/>
    <p:sldId id="270" r:id="rId20"/>
    <p:sldId id="273" r:id="rId21"/>
    <p:sldId id="293" r:id="rId22"/>
    <p:sldId id="295"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76"/>
    <p:restoredTop sz="94648"/>
  </p:normalViewPr>
  <p:slideViewPr>
    <p:cSldViewPr snapToGrid="0">
      <p:cViewPr varScale="1">
        <p:scale>
          <a:sx n="107" d="100"/>
          <a:sy n="107" d="100"/>
        </p:scale>
        <p:origin x="1000"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46E9E8-21C5-7447-9E49-F07033F3801C}" type="datetimeFigureOut">
              <a:rPr lang="en-US" smtClean="0"/>
              <a:t>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1488854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46E9E8-21C5-7447-9E49-F07033F3801C}" type="datetimeFigureOut">
              <a:rPr lang="en-US" smtClean="0"/>
              <a:t>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1372954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46E9E8-21C5-7447-9E49-F07033F3801C}" type="datetimeFigureOut">
              <a:rPr lang="en-US" smtClean="0"/>
              <a:t>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3770592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846E9E8-21C5-7447-9E49-F07033F3801C}" type="datetimeFigureOut">
              <a:rPr lang="en-US" smtClean="0"/>
              <a:t>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713149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46E9E8-21C5-7447-9E49-F07033F3801C}" type="datetimeFigureOut">
              <a:rPr lang="en-US" smtClean="0"/>
              <a:t>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4080114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46E9E8-21C5-7447-9E49-F07033F3801C}" type="datetimeFigureOut">
              <a:rPr lang="en-US" smtClean="0"/>
              <a:t>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4016496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46E9E8-21C5-7447-9E49-F07033F3801C}" type="datetimeFigureOut">
              <a:rPr lang="en-US" smtClean="0"/>
              <a:t>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171344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46E9E8-21C5-7447-9E49-F07033F3801C}" type="datetimeFigureOut">
              <a:rPr lang="en-US" smtClean="0"/>
              <a:t>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2518568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46E9E8-21C5-7447-9E49-F07033F3801C}" type="datetimeFigureOut">
              <a:rPr lang="en-US" smtClean="0"/>
              <a:t>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3881297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46E9E8-21C5-7447-9E49-F07033F3801C}" type="datetimeFigureOut">
              <a:rPr lang="en-US" smtClean="0"/>
              <a:t>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291211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46E9E8-21C5-7447-9E49-F07033F3801C}" type="datetimeFigureOut">
              <a:rPr lang="en-US" smtClean="0"/>
              <a:t>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1393296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8846E9E8-21C5-7447-9E49-F07033F3801C}" type="datetimeFigureOut">
              <a:rPr lang="en-US" smtClean="0"/>
              <a:t>1/3/26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7248BC3A-E46B-C345-A020-F351CF00C42E}" type="slidenum">
              <a:rPr lang="en-US" smtClean="0"/>
              <a:t>‹#›</a:t>
            </a:fld>
            <a:endParaRPr lang="en-US"/>
          </a:p>
        </p:txBody>
      </p:sp>
    </p:spTree>
    <p:extLst>
      <p:ext uri="{BB962C8B-B14F-4D97-AF65-F5344CB8AC3E}">
        <p14:creationId xmlns:p14="http://schemas.microsoft.com/office/powerpoint/2010/main" val="190150445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23E3606-69D6-F318-C175-F3196D8DAB07}"/>
            </a:ext>
          </a:extLst>
        </p:cNvPr>
        <p:cNvGrpSpPr/>
        <p:nvPr/>
      </p:nvGrpSpPr>
      <p:grpSpPr>
        <a:xfrm>
          <a:off x="0" y="0"/>
          <a:ext cx="0" cy="0"/>
          <a:chOff x="0" y="0"/>
          <a:chExt cx="0" cy="0"/>
        </a:xfrm>
      </p:grpSpPr>
      <p:pic>
        <p:nvPicPr>
          <p:cNvPr id="9" name="Content Placeholder 8" descr="A person riding a bike with a food delivery bag&#10;&#10;AI-generated content may be incorrect.">
            <a:extLst>
              <a:ext uri="{FF2B5EF4-FFF2-40B4-BE49-F238E27FC236}">
                <a16:creationId xmlns:a16="http://schemas.microsoft.com/office/drawing/2014/main" id="{FD37764E-5288-CB6A-C0C5-BEA2D3136F88}"/>
              </a:ext>
            </a:extLst>
          </p:cNvPr>
          <p:cNvPicPr>
            <a:picLocks noGrp="1" noChangeAspect="1"/>
          </p:cNvPicPr>
          <p:nvPr>
            <p:ph idx="1"/>
          </p:nvPr>
        </p:nvPicPr>
        <p:blipFill>
          <a:blip r:embed="rId3">
            <a:alphaModFix amt="80000"/>
          </a:blip>
          <a:srcRect t="1654" b="14092"/>
          <a:stretch>
            <a:fillRect/>
          </a:stretch>
        </p:blipFill>
        <p:spPr>
          <a:xfrm>
            <a:off x="20" y="1282"/>
            <a:ext cx="12191980" cy="6856718"/>
          </a:xfrm>
          <a:prstGeom prst="rect">
            <a:avLst/>
          </a:prstGeom>
        </p:spPr>
      </p:pic>
      <p:sp>
        <p:nvSpPr>
          <p:cNvPr id="12" name="TextBox 11">
            <a:extLst>
              <a:ext uri="{FF2B5EF4-FFF2-40B4-BE49-F238E27FC236}">
                <a16:creationId xmlns:a16="http://schemas.microsoft.com/office/drawing/2014/main" id="{D8663EFB-45F4-81EB-8F9C-6343BCB6DAA1}"/>
              </a:ext>
            </a:extLst>
          </p:cNvPr>
          <p:cNvSpPr txBox="1"/>
          <p:nvPr/>
        </p:nvSpPr>
        <p:spPr>
          <a:xfrm>
            <a:off x="5351813" y="1678816"/>
            <a:ext cx="6404758" cy="3785652"/>
          </a:xfrm>
          <a:prstGeom prst="rect">
            <a:avLst/>
          </a:prstGeom>
          <a:noFill/>
        </p:spPr>
        <p:txBody>
          <a:bodyPr wrap="square">
            <a:spAutoFit/>
          </a:bodyPr>
          <a:lstStyle/>
          <a:p>
            <a:r>
              <a:rPr lang="en-US" sz="6000" b="1" dirty="0">
                <a:latin typeface="+mn-lt"/>
                <a:cs typeface="Aharoni" panose="020F0502020204030204" pitchFamily="34" charset="0"/>
              </a:rPr>
              <a:t>Case Study on Duplicate detection using GenAI</a:t>
            </a:r>
            <a:endParaRPr lang="en-US" sz="6000" dirty="0"/>
          </a:p>
        </p:txBody>
      </p:sp>
      <p:sp>
        <p:nvSpPr>
          <p:cNvPr id="13" name="TextBox 12">
            <a:extLst>
              <a:ext uri="{FF2B5EF4-FFF2-40B4-BE49-F238E27FC236}">
                <a16:creationId xmlns:a16="http://schemas.microsoft.com/office/drawing/2014/main" id="{2E4440F9-CA23-4475-0867-5D5FA9AA68AE}"/>
              </a:ext>
            </a:extLst>
          </p:cNvPr>
          <p:cNvSpPr txBox="1"/>
          <p:nvPr/>
        </p:nvSpPr>
        <p:spPr>
          <a:xfrm>
            <a:off x="8554192" y="5868480"/>
            <a:ext cx="5387440" cy="461665"/>
          </a:xfrm>
          <a:prstGeom prst="rect">
            <a:avLst/>
          </a:prstGeom>
          <a:noFill/>
        </p:spPr>
        <p:txBody>
          <a:bodyPr wrap="square">
            <a:spAutoFit/>
          </a:bodyPr>
          <a:lstStyle/>
          <a:p>
            <a:r>
              <a:rPr lang="en-US" sz="2400" b="1" dirty="0">
                <a:cs typeface="Aharoni" panose="020F0502020204030204" pitchFamily="34" charset="0"/>
              </a:rPr>
              <a:t>By: Daryll Dalmeida</a:t>
            </a:r>
            <a:endParaRPr lang="en-US" sz="2400" dirty="0"/>
          </a:p>
        </p:txBody>
      </p:sp>
    </p:spTree>
    <p:extLst>
      <p:ext uri="{BB962C8B-B14F-4D97-AF65-F5344CB8AC3E}">
        <p14:creationId xmlns:p14="http://schemas.microsoft.com/office/powerpoint/2010/main" val="3622721713"/>
      </p:ext>
    </p:extLst>
  </p:cSld>
  <p:clrMapOvr>
    <a:overrideClrMapping bg1="dk1" tx1="lt1" bg2="dk2" tx2="lt2" accent1="accent1" accent2="accent2" accent3="accent3" accent4="accent4" accent5="accent5" accent6="accent6" hlink="hlink" folHlink="folHlink"/>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2C50918-379F-C7B6-4192-55F0D7D0FC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38CF17-D1AF-19EA-5CF6-04859009E27A}"/>
              </a:ext>
            </a:extLst>
          </p:cNvPr>
          <p:cNvSpPr>
            <a:spLocks noGrp="1"/>
          </p:cNvSpPr>
          <p:nvPr>
            <p:ph type="title"/>
          </p:nvPr>
        </p:nvSpPr>
        <p:spPr>
          <a:xfrm>
            <a:off x="1745673" y="230590"/>
            <a:ext cx="7826828" cy="553179"/>
          </a:xfrm>
        </p:spPr>
        <p:txBody>
          <a:bodyPr>
            <a:normAutofit fontScale="90000"/>
          </a:bodyPr>
          <a:lstStyle/>
          <a:p>
            <a:pPr algn="ctr"/>
            <a:r>
              <a:rPr lang="en-US" b="1" dirty="0">
                <a:solidFill>
                  <a:schemeClr val="bg1"/>
                </a:solidFill>
              </a:rPr>
              <a:t>Case Statement &amp; Project Goal</a:t>
            </a:r>
          </a:p>
        </p:txBody>
      </p:sp>
      <p:sp>
        <p:nvSpPr>
          <p:cNvPr id="3" name="Content Placeholder 2">
            <a:extLst>
              <a:ext uri="{FF2B5EF4-FFF2-40B4-BE49-F238E27FC236}">
                <a16:creationId xmlns:a16="http://schemas.microsoft.com/office/drawing/2014/main" id="{D716533E-A277-7361-F976-98A3B9DD941C}"/>
              </a:ext>
            </a:extLst>
          </p:cNvPr>
          <p:cNvSpPr>
            <a:spLocks noGrp="1"/>
          </p:cNvSpPr>
          <p:nvPr>
            <p:ph idx="1"/>
          </p:nvPr>
        </p:nvSpPr>
        <p:spPr>
          <a:xfrm>
            <a:off x="455811" y="1127730"/>
            <a:ext cx="11280378" cy="2515586"/>
          </a:xfrm>
        </p:spPr>
        <p:txBody>
          <a:bodyPr>
            <a:noAutofit/>
          </a:bodyPr>
          <a:lstStyle/>
          <a:p>
            <a:pPr marL="0" indent="0">
              <a:buNone/>
            </a:pPr>
            <a:r>
              <a:rPr lang="en-US" sz="2000" b="1" i="1" dirty="0">
                <a:solidFill>
                  <a:schemeClr val="bg1"/>
                </a:solidFill>
              </a:rPr>
              <a:t>Problem Statement</a:t>
            </a:r>
            <a:r>
              <a:rPr lang="en-US" sz="2000" i="1" dirty="0">
                <a:solidFill>
                  <a:schemeClr val="bg1"/>
                </a:solidFill>
              </a:rPr>
              <a:t>: </a:t>
            </a:r>
            <a:r>
              <a:rPr lang="en-US" sz="2000" dirty="0">
                <a:solidFill>
                  <a:schemeClr val="bg1"/>
                </a:solidFill>
              </a:rPr>
              <a:t>Merchant product catalogs often contain duplicates and inconsistencies, creating a poor customer experience and increasing manual workload for Catalog Ops. We need an automated, scalable solution to detect and remove duplicates while ensuring high catalog quality.</a:t>
            </a:r>
          </a:p>
          <a:p>
            <a:pPr marL="0" indent="0">
              <a:buNone/>
            </a:pPr>
            <a:endParaRPr lang="en-US" sz="2000" dirty="0">
              <a:solidFill>
                <a:schemeClr val="bg1"/>
              </a:solidFill>
            </a:endParaRPr>
          </a:p>
          <a:p>
            <a:pPr marL="0" indent="0">
              <a:buNone/>
            </a:pPr>
            <a:r>
              <a:rPr lang="en-US" sz="2000" b="1" i="1" dirty="0">
                <a:solidFill>
                  <a:schemeClr val="bg1"/>
                </a:solidFill>
              </a:rPr>
              <a:t>Customer Impact: </a:t>
            </a:r>
            <a:r>
              <a:rPr lang="en-US" sz="2000" dirty="0">
                <a:solidFill>
                  <a:schemeClr val="bg1"/>
                </a:solidFill>
              </a:rPr>
              <a:t>This leads to increased customers dissatisfaction, incorrect substitutions &amp; higher chances of error.</a:t>
            </a:r>
          </a:p>
          <a:p>
            <a:pPr marL="0" indent="0">
              <a:buNone/>
            </a:pPr>
            <a:endParaRPr lang="en-US" sz="2000" dirty="0">
              <a:solidFill>
                <a:schemeClr val="bg1"/>
              </a:solidFill>
            </a:endParaRPr>
          </a:p>
          <a:p>
            <a:pPr marL="0" indent="0">
              <a:buNone/>
            </a:pPr>
            <a:r>
              <a:rPr lang="en-US" sz="2000" b="1" i="1" dirty="0">
                <a:solidFill>
                  <a:schemeClr val="bg1"/>
                </a:solidFill>
              </a:rPr>
              <a:t>Goal</a:t>
            </a:r>
            <a:r>
              <a:rPr lang="en-US" sz="2000" i="1" dirty="0">
                <a:solidFill>
                  <a:schemeClr val="bg1"/>
                </a:solidFill>
              </a:rPr>
              <a:t>: </a:t>
            </a:r>
            <a:r>
              <a:rPr lang="en-US" sz="2000" dirty="0">
                <a:solidFill>
                  <a:schemeClr val="bg1"/>
                </a:solidFill>
              </a:rPr>
              <a:t>Our goal is to develop an automated, GenAI-driven solution to accurately identify and resolve duplicate product listings at scale. This will ensure a cleaner, more reliable catalog that improves the customer experience and reduces manual operational efforts.</a:t>
            </a:r>
          </a:p>
          <a:p>
            <a:pPr marL="0" indent="0">
              <a:buNone/>
            </a:pPr>
            <a:endParaRPr lang="en-US" sz="2000" i="1" dirty="0">
              <a:solidFill>
                <a:schemeClr val="bg1"/>
              </a:solidFill>
            </a:endParaRPr>
          </a:p>
          <a:p>
            <a:pPr marL="0" indent="0">
              <a:buNone/>
            </a:pPr>
            <a:r>
              <a:rPr lang="en-US" sz="2000" b="1" i="1" dirty="0">
                <a:solidFill>
                  <a:schemeClr val="bg1"/>
                </a:solidFill>
              </a:rPr>
              <a:t>Data source: </a:t>
            </a:r>
            <a:r>
              <a:rPr lang="en-US" sz="2000" dirty="0">
                <a:solidFill>
                  <a:schemeClr val="bg1"/>
                </a:solidFill>
              </a:rPr>
              <a:t>The</a:t>
            </a:r>
            <a:r>
              <a:rPr lang="en-US" sz="2000" b="1" i="1" dirty="0">
                <a:solidFill>
                  <a:schemeClr val="bg1"/>
                </a:solidFill>
              </a:rPr>
              <a:t> </a:t>
            </a:r>
            <a:r>
              <a:rPr lang="en-US" sz="2000" dirty="0">
                <a:solidFill>
                  <a:schemeClr val="bg1"/>
                </a:solidFill>
              </a:rPr>
              <a:t>catalog dataset has 128038 records across various categories, brands, packages, units and orders. </a:t>
            </a:r>
          </a:p>
          <a:p>
            <a:pPr marL="0" indent="0">
              <a:buNone/>
            </a:pPr>
            <a:endParaRPr lang="en-US" i="1" dirty="0">
              <a:solidFill>
                <a:schemeClr val="bg1"/>
              </a:solidFill>
            </a:endParaRPr>
          </a:p>
          <a:p>
            <a:pPr marL="0" indent="0">
              <a:buNone/>
            </a:pPr>
            <a:endParaRPr lang="en-US" i="1" dirty="0">
              <a:solidFill>
                <a:schemeClr val="bg1"/>
              </a:solidFill>
            </a:endParaRPr>
          </a:p>
          <a:p>
            <a:pPr marL="0" indent="0">
              <a:buNone/>
            </a:pPr>
            <a:endParaRPr lang="en-US" i="1" dirty="0">
              <a:solidFill>
                <a:schemeClr val="bg1"/>
              </a:solidFill>
            </a:endParaRPr>
          </a:p>
        </p:txBody>
      </p:sp>
    </p:spTree>
    <p:extLst>
      <p:ext uri="{BB962C8B-B14F-4D97-AF65-F5344CB8AC3E}">
        <p14:creationId xmlns:p14="http://schemas.microsoft.com/office/powerpoint/2010/main" val="666326887"/>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35C2662-27E5-DE65-7C4A-268A2E92B5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80D46E-9DA5-BF5D-55E5-AB0603194EF6}"/>
              </a:ext>
            </a:extLst>
          </p:cNvPr>
          <p:cNvSpPr>
            <a:spLocks noGrp="1"/>
          </p:cNvSpPr>
          <p:nvPr>
            <p:ph type="title"/>
          </p:nvPr>
        </p:nvSpPr>
        <p:spPr>
          <a:xfrm>
            <a:off x="1745673" y="230590"/>
            <a:ext cx="7826828" cy="553179"/>
          </a:xfrm>
        </p:spPr>
        <p:txBody>
          <a:bodyPr>
            <a:normAutofit fontScale="90000"/>
          </a:bodyPr>
          <a:lstStyle/>
          <a:p>
            <a:pPr algn="ctr"/>
            <a:r>
              <a:rPr lang="en-US" b="1" dirty="0">
                <a:solidFill>
                  <a:schemeClr val="bg1"/>
                </a:solidFill>
              </a:rPr>
              <a:t>Data Cleaning Strategy</a:t>
            </a:r>
          </a:p>
        </p:txBody>
      </p:sp>
      <p:sp>
        <p:nvSpPr>
          <p:cNvPr id="3" name="Content Placeholder 2">
            <a:extLst>
              <a:ext uri="{FF2B5EF4-FFF2-40B4-BE49-F238E27FC236}">
                <a16:creationId xmlns:a16="http://schemas.microsoft.com/office/drawing/2014/main" id="{B6120217-7843-7B48-64D7-E7CAA279A5A5}"/>
              </a:ext>
            </a:extLst>
          </p:cNvPr>
          <p:cNvSpPr>
            <a:spLocks noGrp="1"/>
          </p:cNvSpPr>
          <p:nvPr>
            <p:ph idx="1"/>
          </p:nvPr>
        </p:nvSpPr>
        <p:spPr>
          <a:xfrm>
            <a:off x="455811" y="956276"/>
            <a:ext cx="11280378" cy="743933"/>
          </a:xfrm>
        </p:spPr>
        <p:txBody>
          <a:bodyPr>
            <a:noAutofit/>
          </a:bodyPr>
          <a:lstStyle/>
          <a:p>
            <a:pPr marL="0" indent="0">
              <a:buNone/>
            </a:pPr>
            <a:r>
              <a:rPr lang="en-US" sz="2000" b="1" i="1" dirty="0">
                <a:solidFill>
                  <a:schemeClr val="bg1"/>
                </a:solidFill>
              </a:rPr>
              <a:t>Overview</a:t>
            </a:r>
            <a:r>
              <a:rPr lang="en-US" sz="2000" i="1" dirty="0">
                <a:solidFill>
                  <a:schemeClr val="bg1"/>
                </a:solidFill>
              </a:rPr>
              <a:t>: </a:t>
            </a:r>
            <a:r>
              <a:rPr lang="en-US" sz="2000" dirty="0">
                <a:solidFill>
                  <a:schemeClr val="bg1"/>
                </a:solidFill>
              </a:rPr>
              <a:t>Standardize Name, Brand, Package, and Category into a single, comparable record so we can safely detect duplicates.</a:t>
            </a:r>
          </a:p>
          <a:p>
            <a:pPr marL="0" indent="0">
              <a:buNone/>
            </a:pPr>
            <a:endParaRPr lang="en-US" sz="2000" dirty="0">
              <a:solidFill>
                <a:schemeClr val="bg1"/>
              </a:solidFill>
            </a:endParaRPr>
          </a:p>
        </p:txBody>
      </p:sp>
      <p:sp>
        <p:nvSpPr>
          <p:cNvPr id="5" name="Title 1">
            <a:extLst>
              <a:ext uri="{FF2B5EF4-FFF2-40B4-BE49-F238E27FC236}">
                <a16:creationId xmlns:a16="http://schemas.microsoft.com/office/drawing/2014/main" id="{2105492B-1B80-3FE7-60D2-A17586E13CF9}"/>
              </a:ext>
            </a:extLst>
          </p:cNvPr>
          <p:cNvSpPr txBox="1">
            <a:spLocks/>
          </p:cNvSpPr>
          <p:nvPr/>
        </p:nvSpPr>
        <p:spPr>
          <a:xfrm>
            <a:off x="1745672" y="1796154"/>
            <a:ext cx="8827077" cy="553179"/>
          </a:xfrm>
          <a:prstGeom prst="rect">
            <a:avLst/>
          </a:prstGeom>
        </p:spPr>
        <p:txBody>
          <a:bodyPr vert="horz" lIns="91440" tIns="45720" rIns="91440" bIns="4572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bg1"/>
                </a:solidFill>
              </a:rPr>
              <a:t>Why should we normalize &amp; standardize the data?</a:t>
            </a:r>
          </a:p>
        </p:txBody>
      </p:sp>
      <p:sp>
        <p:nvSpPr>
          <p:cNvPr id="6" name="Content Placeholder 2">
            <a:extLst>
              <a:ext uri="{FF2B5EF4-FFF2-40B4-BE49-F238E27FC236}">
                <a16:creationId xmlns:a16="http://schemas.microsoft.com/office/drawing/2014/main" id="{ED5C7FCA-9161-CE09-369B-6CDE9C0B980E}"/>
              </a:ext>
            </a:extLst>
          </p:cNvPr>
          <p:cNvSpPr txBox="1">
            <a:spLocks/>
          </p:cNvSpPr>
          <p:nvPr/>
        </p:nvSpPr>
        <p:spPr>
          <a:xfrm>
            <a:off x="519021" y="2449349"/>
            <a:ext cx="11280378" cy="7439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chemeClr val="bg1"/>
                </a:solidFill>
              </a:rPr>
              <a:t>Implementing these steps on our catalog dataset allows us to :</a:t>
            </a:r>
          </a:p>
          <a:p>
            <a:r>
              <a:rPr lang="en-US" sz="2000" dirty="0">
                <a:solidFill>
                  <a:schemeClr val="bg1"/>
                </a:solidFill>
              </a:rPr>
              <a:t>Removing the </a:t>
            </a:r>
            <a:r>
              <a:rPr lang="en-US" sz="2000" b="1" dirty="0">
                <a:solidFill>
                  <a:schemeClr val="bg1"/>
                </a:solidFill>
              </a:rPr>
              <a:t>stop words </a:t>
            </a:r>
            <a:r>
              <a:rPr lang="en-US" sz="2000" dirty="0">
                <a:solidFill>
                  <a:schemeClr val="bg1"/>
                </a:solidFill>
              </a:rPr>
              <a:t>lets us match on what is important— </a:t>
            </a:r>
            <a:r>
              <a:rPr lang="en-US" sz="2000" b="1" dirty="0">
                <a:solidFill>
                  <a:schemeClr val="bg1"/>
                </a:solidFill>
              </a:rPr>
              <a:t>product name, package, brand, category, size</a:t>
            </a:r>
            <a:r>
              <a:rPr lang="en-US" sz="2000" dirty="0">
                <a:solidFill>
                  <a:schemeClr val="bg1"/>
                </a:solidFill>
              </a:rPr>
              <a:t>— so we catch duplicates more accurately.</a:t>
            </a:r>
          </a:p>
          <a:p>
            <a:r>
              <a:rPr lang="en-US" sz="2000" dirty="0">
                <a:solidFill>
                  <a:schemeClr val="bg1"/>
                </a:solidFill>
              </a:rPr>
              <a:t>We clean the </a:t>
            </a:r>
            <a:r>
              <a:rPr lang="en-US" sz="2000" b="1" dirty="0">
                <a:solidFill>
                  <a:schemeClr val="bg1"/>
                </a:solidFill>
              </a:rPr>
              <a:t>product name </a:t>
            </a:r>
            <a:r>
              <a:rPr lang="en-US" sz="2000" dirty="0">
                <a:solidFill>
                  <a:schemeClr val="bg1"/>
                </a:solidFill>
              </a:rPr>
              <a:t>so it’s consistent: make it lowercase, remove accents (e.g., </a:t>
            </a:r>
            <a:r>
              <a:rPr lang="en-US" sz="2000" dirty="0" err="1">
                <a:solidFill>
                  <a:schemeClr val="bg1"/>
                </a:solidFill>
              </a:rPr>
              <a:t>azúcar</a:t>
            </a:r>
            <a:r>
              <a:rPr lang="en-US" sz="2000" dirty="0">
                <a:solidFill>
                  <a:schemeClr val="bg1"/>
                </a:solidFill>
              </a:rPr>
              <a:t> → </a:t>
            </a:r>
            <a:r>
              <a:rPr lang="en-US" sz="2000" dirty="0" err="1">
                <a:solidFill>
                  <a:schemeClr val="bg1"/>
                </a:solidFill>
              </a:rPr>
              <a:t>azucar</a:t>
            </a:r>
            <a:r>
              <a:rPr lang="en-US" sz="2000" dirty="0">
                <a:solidFill>
                  <a:schemeClr val="bg1"/>
                </a:solidFill>
              </a:rPr>
              <a:t>), and drop filler words. ( </a:t>
            </a:r>
            <a:r>
              <a:rPr lang="en-US" sz="2000" dirty="0" err="1">
                <a:solidFill>
                  <a:schemeClr val="bg1"/>
                </a:solidFill>
              </a:rPr>
              <a:t>eg</a:t>
            </a:r>
            <a:r>
              <a:rPr lang="en-US" sz="2000" dirty="0">
                <a:solidFill>
                  <a:schemeClr val="bg1"/>
                </a:solidFill>
              </a:rPr>
              <a:t>: </a:t>
            </a:r>
            <a:r>
              <a:rPr lang="en-US" sz="2000" b="1" dirty="0">
                <a:solidFill>
                  <a:schemeClr val="bg1"/>
                </a:solidFill>
              </a:rPr>
              <a:t>Before : </a:t>
            </a:r>
            <a:r>
              <a:rPr lang="en-US" sz="2000" dirty="0" err="1">
                <a:solidFill>
                  <a:schemeClr val="bg1"/>
                </a:solidFill>
              </a:rPr>
              <a:t>Atún</a:t>
            </a:r>
            <a:r>
              <a:rPr lang="en-US" sz="2000" dirty="0">
                <a:solidFill>
                  <a:schemeClr val="bg1"/>
                </a:solidFill>
              </a:rPr>
              <a:t> </a:t>
            </a:r>
            <a:r>
              <a:rPr lang="en-US" sz="2000" dirty="0" err="1">
                <a:solidFill>
                  <a:schemeClr val="bg1"/>
                </a:solidFill>
              </a:rPr>
              <a:t>en</a:t>
            </a:r>
            <a:r>
              <a:rPr lang="en-US" sz="2000" dirty="0">
                <a:solidFill>
                  <a:schemeClr val="bg1"/>
                </a:solidFill>
              </a:rPr>
              <a:t> </a:t>
            </a:r>
            <a:r>
              <a:rPr lang="en-US" sz="2000" dirty="0" err="1">
                <a:solidFill>
                  <a:schemeClr val="bg1"/>
                </a:solidFill>
              </a:rPr>
              <a:t>agua</a:t>
            </a:r>
            <a:r>
              <a:rPr lang="en-US" sz="2000" dirty="0">
                <a:solidFill>
                  <a:schemeClr val="bg1"/>
                </a:solidFill>
              </a:rPr>
              <a:t> UN 6 u x 160 g c/u , </a:t>
            </a:r>
            <a:r>
              <a:rPr lang="en-US" sz="2000" b="1" dirty="0">
                <a:solidFill>
                  <a:schemeClr val="bg1"/>
                </a:solidFill>
              </a:rPr>
              <a:t>After :</a:t>
            </a:r>
            <a:r>
              <a:rPr lang="en-US" sz="2000" dirty="0">
                <a:solidFill>
                  <a:schemeClr val="bg1"/>
                </a:solidFill>
              </a:rPr>
              <a:t> tun </a:t>
            </a:r>
            <a:r>
              <a:rPr lang="en-US" sz="2000" dirty="0" err="1">
                <a:solidFill>
                  <a:schemeClr val="bg1"/>
                </a:solidFill>
              </a:rPr>
              <a:t>agua</a:t>
            </a:r>
            <a:r>
              <a:rPr lang="en-US" sz="2000" dirty="0">
                <a:solidFill>
                  <a:schemeClr val="bg1"/>
                </a:solidFill>
              </a:rPr>
              <a:t> 6 x 160 g).</a:t>
            </a:r>
          </a:p>
          <a:p>
            <a:r>
              <a:rPr lang="en-US" sz="2000" dirty="0">
                <a:solidFill>
                  <a:schemeClr val="bg1"/>
                </a:solidFill>
              </a:rPr>
              <a:t>After implementing these steps we were able to clean up </a:t>
            </a:r>
            <a:r>
              <a:rPr lang="en-US" sz="2000" b="1" dirty="0">
                <a:solidFill>
                  <a:schemeClr val="bg1"/>
                </a:solidFill>
              </a:rPr>
              <a:t>88%</a:t>
            </a:r>
            <a:r>
              <a:rPr lang="en-US" sz="2000" dirty="0">
                <a:solidFill>
                  <a:schemeClr val="bg1"/>
                </a:solidFill>
              </a:rPr>
              <a:t> of the data by choosing each column. The </a:t>
            </a:r>
            <a:r>
              <a:rPr lang="en-US" sz="2000" b="1" dirty="0">
                <a:solidFill>
                  <a:schemeClr val="bg1"/>
                </a:solidFill>
              </a:rPr>
              <a:t>remaining 12%</a:t>
            </a:r>
            <a:r>
              <a:rPr lang="en-US" sz="2000" dirty="0">
                <a:solidFill>
                  <a:schemeClr val="bg1"/>
                </a:solidFill>
              </a:rPr>
              <a:t> was not captured during the normalization so we created an updated unit conversions dictionary &amp; well as separate functions for single pack &amp; multi-pack to capture all the types of units &amp; packages.  </a:t>
            </a:r>
          </a:p>
          <a:p>
            <a:r>
              <a:rPr lang="en-US" sz="2000" dirty="0">
                <a:solidFill>
                  <a:schemeClr val="bg1"/>
                </a:solidFill>
              </a:rPr>
              <a:t>Merged these standardized brand + product name + category name + package into a canonical form containing all information.</a:t>
            </a:r>
          </a:p>
          <a:p>
            <a:pPr marL="0" indent="0">
              <a:buNone/>
            </a:pPr>
            <a:endParaRPr lang="en-US" sz="2000" dirty="0">
              <a:solidFill>
                <a:schemeClr val="bg1"/>
              </a:solidFill>
            </a:endParaRPr>
          </a:p>
          <a:p>
            <a:pPr marL="0" indent="0">
              <a:buNone/>
            </a:pPr>
            <a:endParaRPr lang="en-US" sz="2000" dirty="0">
              <a:solidFill>
                <a:schemeClr val="bg1"/>
              </a:solidFill>
            </a:endParaRPr>
          </a:p>
        </p:txBody>
      </p:sp>
    </p:spTree>
    <p:extLst>
      <p:ext uri="{BB962C8B-B14F-4D97-AF65-F5344CB8AC3E}">
        <p14:creationId xmlns:p14="http://schemas.microsoft.com/office/powerpoint/2010/main" val="343288951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92B5B91-0714-C9FE-8B84-F16D2A70D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54AC78-6F93-DD47-01A9-5560F97D42E9}"/>
              </a:ext>
            </a:extLst>
          </p:cNvPr>
          <p:cNvSpPr>
            <a:spLocks noGrp="1"/>
          </p:cNvSpPr>
          <p:nvPr>
            <p:ph type="title"/>
          </p:nvPr>
        </p:nvSpPr>
        <p:spPr>
          <a:xfrm>
            <a:off x="676893" y="230590"/>
            <a:ext cx="8799615" cy="647199"/>
          </a:xfrm>
        </p:spPr>
        <p:txBody>
          <a:bodyPr>
            <a:noAutofit/>
          </a:bodyPr>
          <a:lstStyle/>
          <a:p>
            <a:pPr algn="ctr"/>
            <a:r>
              <a:rPr lang="en-US" sz="4000" b="1" dirty="0">
                <a:solidFill>
                  <a:schemeClr val="bg1"/>
                </a:solidFill>
              </a:rPr>
              <a:t>Feature Engineering</a:t>
            </a:r>
          </a:p>
        </p:txBody>
      </p:sp>
      <p:sp>
        <p:nvSpPr>
          <p:cNvPr id="3" name="Content Placeholder 2">
            <a:extLst>
              <a:ext uri="{FF2B5EF4-FFF2-40B4-BE49-F238E27FC236}">
                <a16:creationId xmlns:a16="http://schemas.microsoft.com/office/drawing/2014/main" id="{E0AF08DC-931F-732D-11EA-306CCDC16F71}"/>
              </a:ext>
            </a:extLst>
          </p:cNvPr>
          <p:cNvSpPr>
            <a:spLocks noGrp="1"/>
          </p:cNvSpPr>
          <p:nvPr>
            <p:ph idx="1"/>
          </p:nvPr>
        </p:nvSpPr>
        <p:spPr>
          <a:xfrm>
            <a:off x="112904" y="996539"/>
            <a:ext cx="11280378" cy="647199"/>
          </a:xfrm>
        </p:spPr>
        <p:txBody>
          <a:bodyPr>
            <a:noAutofit/>
          </a:bodyPr>
          <a:lstStyle/>
          <a:p>
            <a:pPr marL="0" indent="0" algn="ctr">
              <a:buNone/>
            </a:pPr>
            <a:r>
              <a:rPr lang="en-US" sz="2400" b="1" i="1" dirty="0">
                <a:solidFill>
                  <a:schemeClr val="bg1"/>
                </a:solidFill>
              </a:rPr>
              <a:t>This is a process of creating new features that could be important to the project</a:t>
            </a:r>
            <a:endParaRPr lang="en-US" sz="3200" i="1" dirty="0">
              <a:solidFill>
                <a:schemeClr val="bg1"/>
              </a:solidFill>
            </a:endParaRPr>
          </a:p>
        </p:txBody>
      </p:sp>
      <p:sp>
        <p:nvSpPr>
          <p:cNvPr id="6" name="Rounded Rectangle 5">
            <a:extLst>
              <a:ext uri="{FF2B5EF4-FFF2-40B4-BE49-F238E27FC236}">
                <a16:creationId xmlns:a16="http://schemas.microsoft.com/office/drawing/2014/main" id="{B798C753-6FEF-93CE-EECA-7C7F3D67B0D3}"/>
              </a:ext>
            </a:extLst>
          </p:cNvPr>
          <p:cNvSpPr/>
          <p:nvPr/>
        </p:nvSpPr>
        <p:spPr>
          <a:xfrm>
            <a:off x="384376" y="1605314"/>
            <a:ext cx="3433763" cy="4995074"/>
          </a:xfrm>
          <a:prstGeom prst="roundRect">
            <a:avLst/>
          </a:prstGeom>
          <a:solidFill>
            <a:schemeClr val="bg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502BECF6-247C-CD5D-016C-3F9C8CBB7F66}"/>
              </a:ext>
            </a:extLst>
          </p:cNvPr>
          <p:cNvSpPr/>
          <p:nvPr/>
        </p:nvSpPr>
        <p:spPr>
          <a:xfrm>
            <a:off x="4397480" y="1632336"/>
            <a:ext cx="3433763" cy="4995074"/>
          </a:xfrm>
          <a:prstGeom prst="roundRect">
            <a:avLst/>
          </a:prstGeom>
          <a:solidFill>
            <a:schemeClr val="bg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C11BA5D5-9089-4CB0-17BC-EFDF43D2B9D0}"/>
              </a:ext>
            </a:extLst>
          </p:cNvPr>
          <p:cNvSpPr/>
          <p:nvPr/>
        </p:nvSpPr>
        <p:spPr>
          <a:xfrm>
            <a:off x="8410584" y="1632336"/>
            <a:ext cx="3433763" cy="4995074"/>
          </a:xfrm>
          <a:prstGeom prst="roundRect">
            <a:avLst/>
          </a:prstGeom>
          <a:solidFill>
            <a:schemeClr val="bg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419ADD8-03EC-D2FA-5B71-900B992DB3C7}"/>
              </a:ext>
            </a:extLst>
          </p:cNvPr>
          <p:cNvSpPr txBox="1"/>
          <p:nvPr/>
        </p:nvSpPr>
        <p:spPr>
          <a:xfrm>
            <a:off x="785813" y="1843078"/>
            <a:ext cx="2543194" cy="461665"/>
          </a:xfrm>
          <a:prstGeom prst="rect">
            <a:avLst/>
          </a:prstGeom>
          <a:noFill/>
        </p:spPr>
        <p:txBody>
          <a:bodyPr wrap="square" rtlCol="0">
            <a:spAutoFit/>
          </a:bodyPr>
          <a:lstStyle/>
          <a:p>
            <a:r>
              <a:rPr lang="en-US" sz="2400" b="1" dirty="0"/>
              <a:t>Similarity Score</a:t>
            </a:r>
          </a:p>
        </p:txBody>
      </p:sp>
      <p:sp>
        <p:nvSpPr>
          <p:cNvPr id="18" name="TextBox 17">
            <a:extLst>
              <a:ext uri="{FF2B5EF4-FFF2-40B4-BE49-F238E27FC236}">
                <a16:creationId xmlns:a16="http://schemas.microsoft.com/office/drawing/2014/main" id="{8541ED61-6291-A7F5-401B-2243380C1831}"/>
              </a:ext>
            </a:extLst>
          </p:cNvPr>
          <p:cNvSpPr txBox="1"/>
          <p:nvPr/>
        </p:nvSpPr>
        <p:spPr>
          <a:xfrm>
            <a:off x="5097127" y="1843078"/>
            <a:ext cx="2232376" cy="461665"/>
          </a:xfrm>
          <a:prstGeom prst="rect">
            <a:avLst/>
          </a:prstGeom>
          <a:noFill/>
        </p:spPr>
        <p:txBody>
          <a:bodyPr wrap="square" rtlCol="0">
            <a:spAutoFit/>
          </a:bodyPr>
          <a:lstStyle/>
          <a:p>
            <a:r>
              <a:rPr lang="en-US" sz="2400" b="1" dirty="0"/>
              <a:t>Bucket Type</a:t>
            </a:r>
          </a:p>
        </p:txBody>
      </p:sp>
      <p:sp>
        <p:nvSpPr>
          <p:cNvPr id="19" name="TextBox 18">
            <a:extLst>
              <a:ext uri="{FF2B5EF4-FFF2-40B4-BE49-F238E27FC236}">
                <a16:creationId xmlns:a16="http://schemas.microsoft.com/office/drawing/2014/main" id="{48D31056-84C7-5BF6-8B82-2F10DB224E0A}"/>
              </a:ext>
            </a:extLst>
          </p:cNvPr>
          <p:cNvSpPr txBox="1"/>
          <p:nvPr/>
        </p:nvSpPr>
        <p:spPr>
          <a:xfrm>
            <a:off x="9586913" y="1843078"/>
            <a:ext cx="1114425" cy="461665"/>
          </a:xfrm>
          <a:prstGeom prst="rect">
            <a:avLst/>
          </a:prstGeom>
          <a:noFill/>
        </p:spPr>
        <p:txBody>
          <a:bodyPr wrap="square" rtlCol="0">
            <a:spAutoFit/>
          </a:bodyPr>
          <a:lstStyle/>
          <a:p>
            <a:r>
              <a:rPr lang="en-US" sz="2400" b="1" dirty="0"/>
              <a:t>Action</a:t>
            </a:r>
          </a:p>
        </p:txBody>
      </p:sp>
      <p:sp>
        <p:nvSpPr>
          <p:cNvPr id="20" name="TextBox 19">
            <a:extLst>
              <a:ext uri="{FF2B5EF4-FFF2-40B4-BE49-F238E27FC236}">
                <a16:creationId xmlns:a16="http://schemas.microsoft.com/office/drawing/2014/main" id="{74AA4979-96DD-19CE-2CE2-EA017B180B54}"/>
              </a:ext>
            </a:extLst>
          </p:cNvPr>
          <p:cNvSpPr txBox="1"/>
          <p:nvPr/>
        </p:nvSpPr>
        <p:spPr>
          <a:xfrm>
            <a:off x="485784" y="2400289"/>
            <a:ext cx="3143250" cy="3231654"/>
          </a:xfrm>
          <a:prstGeom prst="rect">
            <a:avLst/>
          </a:prstGeom>
          <a:noFill/>
        </p:spPr>
        <p:txBody>
          <a:bodyPr wrap="square" rtlCol="0">
            <a:spAutoFit/>
          </a:bodyPr>
          <a:lstStyle/>
          <a:p>
            <a:pPr marL="285750" indent="-285750">
              <a:buFont typeface="Arial" panose="020B0604020202020204" pitchFamily="34" charset="0"/>
              <a:buChar char="•"/>
            </a:pPr>
            <a:r>
              <a:rPr lang="en-US" sz="1700" dirty="0"/>
              <a:t>In this step, we would be creating a function that uses fuzzy matching to generate a similarity score using the original product name without changes and the standardized product name with the changes.  </a:t>
            </a:r>
          </a:p>
          <a:p>
            <a:pPr marL="285750" indent="-285750">
              <a:buFont typeface="Arial" panose="020B0604020202020204" pitchFamily="34" charset="0"/>
              <a:buChar char="•"/>
            </a:pPr>
            <a:r>
              <a:rPr lang="en-US" sz="1700" dirty="0"/>
              <a:t>Fuzzy matching measures scores between two product names for identifying duplicates in a system.</a:t>
            </a:r>
          </a:p>
        </p:txBody>
      </p:sp>
      <p:sp>
        <p:nvSpPr>
          <p:cNvPr id="24" name="TextBox 23">
            <a:extLst>
              <a:ext uri="{FF2B5EF4-FFF2-40B4-BE49-F238E27FC236}">
                <a16:creationId xmlns:a16="http://schemas.microsoft.com/office/drawing/2014/main" id="{C2FEBC40-4330-37FD-7D62-F3E25E71B5E9}"/>
              </a:ext>
            </a:extLst>
          </p:cNvPr>
          <p:cNvSpPr txBox="1"/>
          <p:nvPr/>
        </p:nvSpPr>
        <p:spPr>
          <a:xfrm>
            <a:off x="4462460" y="2443153"/>
            <a:ext cx="3143250" cy="3539430"/>
          </a:xfrm>
          <a:prstGeom prst="rect">
            <a:avLst/>
          </a:prstGeom>
          <a:noFill/>
        </p:spPr>
        <p:txBody>
          <a:bodyPr wrap="square" rtlCol="0">
            <a:spAutoFit/>
          </a:bodyPr>
          <a:lstStyle/>
          <a:p>
            <a:pPr marL="285750" indent="-285750">
              <a:buFont typeface="Arial" panose="020B0604020202020204" pitchFamily="34" charset="0"/>
              <a:buChar char="•"/>
            </a:pPr>
            <a:r>
              <a:rPr lang="en-US" sz="1600" dirty="0"/>
              <a:t>The bucket type is created using the similarity score feature.</a:t>
            </a:r>
          </a:p>
          <a:p>
            <a:pPr marL="285750" indent="-285750">
              <a:buFont typeface="Arial" panose="020B0604020202020204" pitchFamily="34" charset="0"/>
              <a:buChar char="•"/>
            </a:pPr>
            <a:r>
              <a:rPr lang="en-US" sz="1600" dirty="0"/>
              <a:t>The logic used here is as follows :</a:t>
            </a:r>
          </a:p>
          <a:p>
            <a:pPr marL="285750" indent="-285750">
              <a:buFont typeface="Arial" panose="020B0604020202020204" pitchFamily="34" charset="0"/>
              <a:buChar char="•"/>
            </a:pPr>
            <a:r>
              <a:rPr lang="en-US" sz="1600" dirty="0"/>
              <a:t>1. High bucket : Similarity score &gt; 95</a:t>
            </a:r>
          </a:p>
          <a:p>
            <a:pPr marL="285750" indent="-285750">
              <a:buFont typeface="Arial" panose="020B0604020202020204" pitchFamily="34" charset="0"/>
              <a:buChar char="•"/>
            </a:pPr>
            <a:r>
              <a:rPr lang="en-US" sz="1600" dirty="0"/>
              <a:t>2. Medium bucket : Similarity score &gt;75 &amp; &lt;95</a:t>
            </a:r>
          </a:p>
          <a:p>
            <a:pPr marL="285750" indent="-285750">
              <a:buFont typeface="Arial" panose="020B0604020202020204" pitchFamily="34" charset="0"/>
              <a:buChar char="•"/>
            </a:pPr>
            <a:r>
              <a:rPr lang="en-US" sz="1600" dirty="0"/>
              <a:t>3. Low bucket : Similarity score &lt; 75.</a:t>
            </a:r>
          </a:p>
          <a:p>
            <a:pPr marL="285750" indent="-285750">
              <a:buFont typeface="Arial" panose="020B0604020202020204" pitchFamily="34" charset="0"/>
              <a:buChar char="•"/>
            </a:pPr>
            <a:r>
              <a:rPr lang="en-US" sz="1600" dirty="0"/>
              <a:t>This is a great feature to add because it groups all scores into three main buckets.</a:t>
            </a:r>
          </a:p>
        </p:txBody>
      </p:sp>
      <p:sp>
        <p:nvSpPr>
          <p:cNvPr id="25" name="TextBox 24">
            <a:extLst>
              <a:ext uri="{FF2B5EF4-FFF2-40B4-BE49-F238E27FC236}">
                <a16:creationId xmlns:a16="http://schemas.microsoft.com/office/drawing/2014/main" id="{0B907952-7CB7-780E-449E-EFD2211506CA}"/>
              </a:ext>
            </a:extLst>
          </p:cNvPr>
          <p:cNvSpPr txBox="1"/>
          <p:nvPr/>
        </p:nvSpPr>
        <p:spPr>
          <a:xfrm>
            <a:off x="8555840" y="2428291"/>
            <a:ext cx="3143250" cy="4031873"/>
          </a:xfrm>
          <a:prstGeom prst="rect">
            <a:avLst/>
          </a:prstGeom>
          <a:noFill/>
        </p:spPr>
        <p:txBody>
          <a:bodyPr wrap="square" rtlCol="0">
            <a:spAutoFit/>
          </a:bodyPr>
          <a:lstStyle/>
          <a:p>
            <a:pPr marL="285750" indent="-285750">
              <a:buFont typeface="Arial" panose="020B0604020202020204" pitchFamily="34" charset="0"/>
              <a:buChar char="•"/>
            </a:pPr>
            <a:r>
              <a:rPr lang="en-US" sz="1600" dirty="0"/>
              <a:t>The Action feature is derived from the bucket type.</a:t>
            </a:r>
          </a:p>
          <a:p>
            <a:pPr marL="285750" indent="-285750">
              <a:buFont typeface="Arial" panose="020B0604020202020204" pitchFamily="34" charset="0"/>
              <a:buChar char="•"/>
            </a:pPr>
            <a:r>
              <a:rPr lang="en-US" sz="1600" dirty="0"/>
              <a:t>The logic here is that each bucket has a different representation and action. </a:t>
            </a:r>
          </a:p>
          <a:p>
            <a:pPr marL="285750" indent="-285750">
              <a:buFont typeface="Arial" panose="020B0604020202020204" pitchFamily="34" charset="0"/>
              <a:buChar char="•"/>
            </a:pPr>
            <a:r>
              <a:rPr lang="en-US" sz="1600" dirty="0"/>
              <a:t>1. Auto merge on High Bucket: We should be auto-merging them as duplicates if found in high bucket.</a:t>
            </a:r>
          </a:p>
          <a:p>
            <a:pPr marL="285750" indent="-285750">
              <a:buFont typeface="Arial" panose="020B0604020202020204" pitchFamily="34" charset="0"/>
              <a:buChar char="•"/>
            </a:pPr>
            <a:r>
              <a:rPr lang="en-US" sz="1600" dirty="0"/>
              <a:t>2. Human in the Loop for Medium bucket: This is crucial to our team since it needs review.</a:t>
            </a:r>
          </a:p>
          <a:p>
            <a:pPr marL="285750" indent="-285750">
              <a:buFont typeface="Arial" panose="020B0604020202020204" pitchFamily="34" charset="0"/>
              <a:buChar char="•"/>
            </a:pPr>
            <a:r>
              <a:rPr lang="en-US" sz="1600" dirty="0"/>
              <a:t>3. Unique / Ignore : Scores that are below 75 may be considered after HITL.</a:t>
            </a:r>
          </a:p>
        </p:txBody>
      </p:sp>
    </p:spTree>
    <p:extLst>
      <p:ext uri="{BB962C8B-B14F-4D97-AF65-F5344CB8AC3E}">
        <p14:creationId xmlns:p14="http://schemas.microsoft.com/office/powerpoint/2010/main" val="8876912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DFB5C6B-0436-8E1D-D9EA-8390245CF5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2DC57F-83AF-CA7D-73C8-0F5F6674B9FF}"/>
              </a:ext>
            </a:extLst>
          </p:cNvPr>
          <p:cNvSpPr>
            <a:spLocks noGrp="1"/>
          </p:cNvSpPr>
          <p:nvPr>
            <p:ph type="title"/>
          </p:nvPr>
        </p:nvSpPr>
        <p:spPr>
          <a:xfrm>
            <a:off x="1745673" y="230590"/>
            <a:ext cx="7826828" cy="553179"/>
          </a:xfrm>
        </p:spPr>
        <p:txBody>
          <a:bodyPr>
            <a:normAutofit fontScale="90000"/>
          </a:bodyPr>
          <a:lstStyle/>
          <a:p>
            <a:pPr algn="ctr"/>
            <a:r>
              <a:rPr lang="en-US" b="1" dirty="0">
                <a:solidFill>
                  <a:schemeClr val="bg1"/>
                </a:solidFill>
              </a:rPr>
              <a:t>Insights from Standardization</a:t>
            </a:r>
          </a:p>
        </p:txBody>
      </p:sp>
      <p:graphicFrame>
        <p:nvGraphicFramePr>
          <p:cNvPr id="7" name="Table 6">
            <a:extLst>
              <a:ext uri="{FF2B5EF4-FFF2-40B4-BE49-F238E27FC236}">
                <a16:creationId xmlns:a16="http://schemas.microsoft.com/office/drawing/2014/main" id="{C13257CF-7244-35E7-68FD-7A550D25BBD7}"/>
              </a:ext>
            </a:extLst>
          </p:cNvPr>
          <p:cNvGraphicFramePr>
            <a:graphicFrameLocks noGrp="1"/>
          </p:cNvGraphicFramePr>
          <p:nvPr>
            <p:extLst>
              <p:ext uri="{D42A27DB-BD31-4B8C-83A1-F6EECF244321}">
                <p14:modId xmlns:p14="http://schemas.microsoft.com/office/powerpoint/2010/main" val="3977636077"/>
              </p:ext>
            </p:extLst>
          </p:nvPr>
        </p:nvGraphicFramePr>
        <p:xfrm>
          <a:off x="603246" y="942975"/>
          <a:ext cx="11169654" cy="5684435"/>
        </p:xfrm>
        <a:graphic>
          <a:graphicData uri="http://schemas.openxmlformats.org/drawingml/2006/table">
            <a:tbl>
              <a:tblPr firstRow="1" bandRow="1">
                <a:tableStyleId>{073A0DAA-6AF3-43AB-8588-CEC1D06C72B9}</a:tableStyleId>
              </a:tblPr>
              <a:tblGrid>
                <a:gridCol w="1861609">
                  <a:extLst>
                    <a:ext uri="{9D8B030D-6E8A-4147-A177-3AD203B41FA5}">
                      <a16:colId xmlns:a16="http://schemas.microsoft.com/office/drawing/2014/main" val="77422664"/>
                    </a:ext>
                  </a:extLst>
                </a:gridCol>
                <a:gridCol w="1861609">
                  <a:extLst>
                    <a:ext uri="{9D8B030D-6E8A-4147-A177-3AD203B41FA5}">
                      <a16:colId xmlns:a16="http://schemas.microsoft.com/office/drawing/2014/main" val="3506949942"/>
                    </a:ext>
                  </a:extLst>
                </a:gridCol>
                <a:gridCol w="1861609">
                  <a:extLst>
                    <a:ext uri="{9D8B030D-6E8A-4147-A177-3AD203B41FA5}">
                      <a16:colId xmlns:a16="http://schemas.microsoft.com/office/drawing/2014/main" val="1659022180"/>
                    </a:ext>
                  </a:extLst>
                </a:gridCol>
                <a:gridCol w="1861609">
                  <a:extLst>
                    <a:ext uri="{9D8B030D-6E8A-4147-A177-3AD203B41FA5}">
                      <a16:colId xmlns:a16="http://schemas.microsoft.com/office/drawing/2014/main" val="4097501090"/>
                    </a:ext>
                  </a:extLst>
                </a:gridCol>
                <a:gridCol w="1861609">
                  <a:extLst>
                    <a:ext uri="{9D8B030D-6E8A-4147-A177-3AD203B41FA5}">
                      <a16:colId xmlns:a16="http://schemas.microsoft.com/office/drawing/2014/main" val="3455205554"/>
                    </a:ext>
                  </a:extLst>
                </a:gridCol>
                <a:gridCol w="1861609">
                  <a:extLst>
                    <a:ext uri="{9D8B030D-6E8A-4147-A177-3AD203B41FA5}">
                      <a16:colId xmlns:a16="http://schemas.microsoft.com/office/drawing/2014/main" val="994859421"/>
                    </a:ext>
                  </a:extLst>
                </a:gridCol>
              </a:tblGrid>
              <a:tr h="1136887">
                <a:tc>
                  <a:txBody>
                    <a:bodyPr/>
                    <a:lstStyle/>
                    <a:p>
                      <a:pPr algn="ctr"/>
                      <a:endParaRPr lang="en-US" sz="2000" dirty="0"/>
                    </a:p>
                    <a:p>
                      <a:pPr algn="ctr"/>
                      <a:r>
                        <a:rPr lang="en-US" sz="2000" dirty="0"/>
                        <a:t>Field</a:t>
                      </a:r>
                      <a:endParaRPr lang="en-US" dirty="0"/>
                    </a:p>
                  </a:txBody>
                  <a:tcPr/>
                </a:tc>
                <a:tc>
                  <a:txBody>
                    <a:bodyPr/>
                    <a:lstStyle/>
                    <a:p>
                      <a:endParaRPr lang="en-US" dirty="0"/>
                    </a:p>
                    <a:p>
                      <a:r>
                        <a:rPr lang="en-US" dirty="0"/>
                        <a:t>Total Rows</a:t>
                      </a:r>
                    </a:p>
                  </a:txBody>
                  <a:tcPr/>
                </a:tc>
                <a:tc>
                  <a:txBody>
                    <a:bodyPr/>
                    <a:lstStyle/>
                    <a:p>
                      <a:endParaRPr lang="en-US" dirty="0"/>
                    </a:p>
                    <a:p>
                      <a:r>
                        <a:rPr lang="en-US" dirty="0"/>
                        <a:t>Before Standardized</a:t>
                      </a:r>
                    </a:p>
                  </a:txBody>
                  <a:tcPr/>
                </a:tc>
                <a:tc>
                  <a:txBody>
                    <a:bodyPr/>
                    <a:lstStyle/>
                    <a:p>
                      <a:endParaRPr lang="en-US" dirty="0"/>
                    </a:p>
                    <a:p>
                      <a:r>
                        <a:rPr lang="en-US" dirty="0"/>
                        <a:t>After Standardized</a:t>
                      </a:r>
                    </a:p>
                  </a:txBody>
                  <a:tcPr/>
                </a:tc>
                <a:tc>
                  <a:txBody>
                    <a:bodyPr/>
                    <a:lstStyle/>
                    <a:p>
                      <a:endParaRPr lang="en-US" dirty="0"/>
                    </a:p>
                    <a:p>
                      <a:r>
                        <a:rPr lang="en-US" dirty="0"/>
                        <a:t>Uppercase left</a:t>
                      </a:r>
                    </a:p>
                  </a:txBody>
                  <a:tcPr/>
                </a:tc>
                <a:tc>
                  <a:txBody>
                    <a:bodyPr/>
                    <a:lstStyle/>
                    <a:p>
                      <a:endParaRPr lang="en-US" dirty="0"/>
                    </a:p>
                    <a:p>
                      <a:r>
                        <a:rPr lang="en-US" dirty="0"/>
                        <a:t>Accents left</a:t>
                      </a:r>
                    </a:p>
                  </a:txBody>
                  <a:tcPr/>
                </a:tc>
                <a:extLst>
                  <a:ext uri="{0D108BD9-81ED-4DB2-BD59-A6C34878D82A}">
                    <a16:rowId xmlns:a16="http://schemas.microsoft.com/office/drawing/2014/main" val="1964677048"/>
                  </a:ext>
                </a:extLst>
              </a:tr>
              <a:tr h="1136887">
                <a:tc>
                  <a:txBody>
                    <a:bodyPr/>
                    <a:lstStyle/>
                    <a:p>
                      <a:r>
                        <a:rPr lang="en-US" b="1" dirty="0"/>
                        <a:t>Product Name</a:t>
                      </a:r>
                    </a:p>
                  </a:txBody>
                  <a:tcPr/>
                </a:tc>
                <a:tc>
                  <a:txBody>
                    <a:bodyPr/>
                    <a:lstStyle/>
                    <a:p>
                      <a:r>
                        <a:rPr lang="en-US" b="1" dirty="0"/>
                        <a:t>128,038</a:t>
                      </a:r>
                    </a:p>
                  </a:txBody>
                  <a:tcPr/>
                </a:tc>
                <a:tc>
                  <a:txBody>
                    <a:bodyPr/>
                    <a:lstStyle/>
                    <a:p>
                      <a:r>
                        <a:rPr lang="en-US" b="1" dirty="0"/>
                        <a:t>75 (~0.06%)</a:t>
                      </a:r>
                    </a:p>
                  </a:txBody>
                  <a:tcPr/>
                </a:tc>
                <a:tc>
                  <a:txBody>
                    <a:bodyPr/>
                    <a:lstStyle/>
                    <a:p>
                      <a:r>
                        <a:rPr lang="en-US" b="1" dirty="0"/>
                        <a:t>127,963 (~99.94%)</a:t>
                      </a:r>
                    </a:p>
                  </a:txBody>
                  <a:tcPr/>
                </a:tc>
                <a:tc>
                  <a:txBody>
                    <a:bodyPr/>
                    <a:lstStyle/>
                    <a:p>
                      <a:r>
                        <a:rPr lang="en-US" b="1" dirty="0"/>
                        <a:t>0</a:t>
                      </a:r>
                    </a:p>
                  </a:txBody>
                  <a:tcPr/>
                </a:tc>
                <a:tc>
                  <a:txBody>
                    <a:bodyPr/>
                    <a:lstStyle/>
                    <a:p>
                      <a:r>
                        <a:rPr lang="en-US" b="1" dirty="0"/>
                        <a:t>0</a:t>
                      </a:r>
                    </a:p>
                  </a:txBody>
                  <a:tcPr/>
                </a:tc>
                <a:extLst>
                  <a:ext uri="{0D108BD9-81ED-4DB2-BD59-A6C34878D82A}">
                    <a16:rowId xmlns:a16="http://schemas.microsoft.com/office/drawing/2014/main" val="1180206925"/>
                  </a:ext>
                </a:extLst>
              </a:tr>
              <a:tr h="1136887">
                <a:tc>
                  <a:txBody>
                    <a:bodyPr/>
                    <a:lstStyle/>
                    <a:p>
                      <a:r>
                        <a:rPr lang="en-US" b="1" dirty="0"/>
                        <a:t>Package</a:t>
                      </a:r>
                    </a:p>
                  </a:txBody>
                  <a:tcPr/>
                </a:tc>
                <a:tc>
                  <a:txBody>
                    <a:bodyPr/>
                    <a:lstStyle/>
                    <a:p>
                      <a:r>
                        <a:rPr lang="en-US" b="1" dirty="0"/>
                        <a:t>128,038</a:t>
                      </a:r>
                    </a:p>
                  </a:txBody>
                  <a:tcPr/>
                </a:tc>
                <a:tc>
                  <a:txBody>
                    <a:bodyPr/>
                    <a:lstStyle/>
                    <a:p>
                      <a:r>
                        <a:rPr lang="en-US" b="1" dirty="0"/>
                        <a:t>57,711 (45.07%)</a:t>
                      </a:r>
                    </a:p>
                  </a:txBody>
                  <a:tcPr/>
                </a:tc>
                <a:tc>
                  <a:txBody>
                    <a:bodyPr/>
                    <a:lstStyle/>
                    <a:p>
                      <a:r>
                        <a:rPr lang="en-US" b="1" dirty="0"/>
                        <a:t>70,327 (54.93%)</a:t>
                      </a:r>
                    </a:p>
                  </a:txBody>
                  <a:tcPr/>
                </a:tc>
                <a:tc>
                  <a:txBody>
                    <a:bodyPr/>
                    <a:lstStyle/>
                    <a:p>
                      <a:r>
                        <a:rPr lang="en-US" b="1" dirty="0"/>
                        <a:t>0</a:t>
                      </a:r>
                    </a:p>
                  </a:txBody>
                  <a:tcPr/>
                </a:tc>
                <a:tc>
                  <a:txBody>
                    <a:bodyPr/>
                    <a:lstStyle/>
                    <a:p>
                      <a:r>
                        <a:rPr lang="en-US" dirty="0"/>
                        <a:t>0</a:t>
                      </a:r>
                    </a:p>
                  </a:txBody>
                  <a:tcPr/>
                </a:tc>
                <a:extLst>
                  <a:ext uri="{0D108BD9-81ED-4DB2-BD59-A6C34878D82A}">
                    <a16:rowId xmlns:a16="http://schemas.microsoft.com/office/drawing/2014/main" val="1492452916"/>
                  </a:ext>
                </a:extLst>
              </a:tr>
              <a:tr h="1136887">
                <a:tc>
                  <a:txBody>
                    <a:bodyPr/>
                    <a:lstStyle/>
                    <a:p>
                      <a:r>
                        <a:rPr lang="en-US" b="1" dirty="0"/>
                        <a:t>Brand</a:t>
                      </a:r>
                    </a:p>
                  </a:txBody>
                  <a:tcPr/>
                </a:tc>
                <a:tc>
                  <a:txBody>
                    <a:bodyPr/>
                    <a:lstStyle/>
                    <a:p>
                      <a:r>
                        <a:rPr lang="en-US" b="1" dirty="0"/>
                        <a:t>128,038</a:t>
                      </a:r>
                    </a:p>
                  </a:txBody>
                  <a:tcPr/>
                </a:tc>
                <a:tc>
                  <a:txBody>
                    <a:bodyPr/>
                    <a:lstStyle/>
                    <a:p>
                      <a:r>
                        <a:rPr lang="en-US" b="1" dirty="0"/>
                        <a:t>29,934 (</a:t>
                      </a:r>
                      <a:r>
                        <a:rPr lang="en-US" sz="1800" b="1" i="0" kern="1200" dirty="0">
                          <a:solidFill>
                            <a:schemeClr val="dk1"/>
                          </a:solidFill>
                          <a:effectLst/>
                          <a:latin typeface="+mn-lt"/>
                          <a:ea typeface="+mn-ea"/>
                          <a:cs typeface="+mn-cs"/>
                        </a:rPr>
                        <a:t>23.38%)</a:t>
                      </a:r>
                      <a:endParaRPr lang="en-US" b="1" dirty="0"/>
                    </a:p>
                  </a:txBody>
                  <a:tcPr/>
                </a:tc>
                <a:tc>
                  <a:txBody>
                    <a:bodyPr/>
                    <a:lstStyle/>
                    <a:p>
                      <a:r>
                        <a:rPr lang="en-US" b="1" dirty="0"/>
                        <a:t>9</a:t>
                      </a:r>
                      <a:r>
                        <a:rPr lang="en-US" sz="1800" b="1" i="0" kern="1200" dirty="0">
                          <a:solidFill>
                            <a:schemeClr val="dk1"/>
                          </a:solidFill>
                          <a:effectLst/>
                          <a:latin typeface="+mn-lt"/>
                          <a:ea typeface="+mn-ea"/>
                          <a:cs typeface="+mn-cs"/>
                        </a:rPr>
                        <a:t>8,104 (76.62%)</a:t>
                      </a:r>
                      <a:endParaRPr lang="en-US" b="1" dirty="0"/>
                    </a:p>
                  </a:txBody>
                  <a:tcPr/>
                </a:tc>
                <a:tc>
                  <a:txBody>
                    <a:bodyPr/>
                    <a:lstStyle/>
                    <a:p>
                      <a:r>
                        <a:rPr lang="en-US" b="1" dirty="0"/>
                        <a:t>0</a:t>
                      </a:r>
                    </a:p>
                  </a:txBody>
                  <a:tcPr/>
                </a:tc>
                <a:tc>
                  <a:txBody>
                    <a:bodyPr/>
                    <a:lstStyle/>
                    <a:p>
                      <a:r>
                        <a:rPr lang="en-US" b="1" dirty="0"/>
                        <a:t>0</a:t>
                      </a:r>
                    </a:p>
                  </a:txBody>
                  <a:tcPr/>
                </a:tc>
                <a:extLst>
                  <a:ext uri="{0D108BD9-81ED-4DB2-BD59-A6C34878D82A}">
                    <a16:rowId xmlns:a16="http://schemas.microsoft.com/office/drawing/2014/main" val="3735159082"/>
                  </a:ext>
                </a:extLst>
              </a:tr>
              <a:tr h="1136887">
                <a:tc>
                  <a:txBody>
                    <a:bodyPr/>
                    <a:lstStyle/>
                    <a:p>
                      <a:r>
                        <a:rPr lang="en-US" b="1" dirty="0"/>
                        <a:t>Category</a:t>
                      </a:r>
                    </a:p>
                  </a:txBody>
                  <a:tcPr/>
                </a:tc>
                <a:tc>
                  <a:txBody>
                    <a:bodyPr/>
                    <a:lstStyle/>
                    <a:p>
                      <a:r>
                        <a:rPr lang="en-US" b="1" dirty="0"/>
                        <a:t>128,038</a:t>
                      </a:r>
                    </a:p>
                  </a:txBody>
                  <a:tcPr/>
                </a:tc>
                <a:tc>
                  <a:txBody>
                    <a:bodyPr/>
                    <a:lstStyle/>
                    <a:p>
                      <a:r>
                        <a:rPr lang="en-US" b="1" dirty="0"/>
                        <a:t>0%</a:t>
                      </a:r>
                    </a:p>
                  </a:txBody>
                  <a:tcPr/>
                </a:tc>
                <a:tc>
                  <a:txBody>
                    <a:bodyPr/>
                    <a:lstStyle/>
                    <a:p>
                      <a:r>
                        <a:rPr lang="en-US" b="1" dirty="0"/>
                        <a:t>100%</a:t>
                      </a:r>
                    </a:p>
                  </a:txBody>
                  <a:tcPr/>
                </a:tc>
                <a:tc>
                  <a:txBody>
                    <a:bodyPr/>
                    <a:lstStyle/>
                    <a:p>
                      <a:r>
                        <a:rPr lang="en-US" b="1" dirty="0"/>
                        <a:t>0</a:t>
                      </a:r>
                    </a:p>
                  </a:txBody>
                  <a:tcPr/>
                </a:tc>
                <a:tc>
                  <a:txBody>
                    <a:bodyPr/>
                    <a:lstStyle/>
                    <a:p>
                      <a:r>
                        <a:rPr lang="en-US" b="1" dirty="0"/>
                        <a:t>0</a:t>
                      </a:r>
                    </a:p>
                  </a:txBody>
                  <a:tcPr/>
                </a:tc>
                <a:extLst>
                  <a:ext uri="{0D108BD9-81ED-4DB2-BD59-A6C34878D82A}">
                    <a16:rowId xmlns:a16="http://schemas.microsoft.com/office/drawing/2014/main" val="2687433287"/>
                  </a:ext>
                </a:extLst>
              </a:tr>
            </a:tbl>
          </a:graphicData>
        </a:graphic>
      </p:graphicFrame>
    </p:spTree>
    <p:extLst>
      <p:ext uri="{BB962C8B-B14F-4D97-AF65-F5344CB8AC3E}">
        <p14:creationId xmlns:p14="http://schemas.microsoft.com/office/powerpoint/2010/main" val="1093294681"/>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7B923F7-7F3E-856E-F56E-BE4C8C66A5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C2699-C516-36F4-B1F0-846FFDE3B6A0}"/>
              </a:ext>
            </a:extLst>
          </p:cNvPr>
          <p:cNvSpPr>
            <a:spLocks noGrp="1"/>
          </p:cNvSpPr>
          <p:nvPr>
            <p:ph type="title"/>
          </p:nvPr>
        </p:nvSpPr>
        <p:spPr>
          <a:xfrm>
            <a:off x="1745673" y="230590"/>
            <a:ext cx="7826828" cy="553179"/>
          </a:xfrm>
        </p:spPr>
        <p:txBody>
          <a:bodyPr>
            <a:normAutofit fontScale="90000"/>
          </a:bodyPr>
          <a:lstStyle/>
          <a:p>
            <a:pPr algn="ctr"/>
            <a:r>
              <a:rPr lang="en-US" b="1" dirty="0">
                <a:solidFill>
                  <a:schemeClr val="bg1"/>
                </a:solidFill>
              </a:rPr>
              <a:t>AI Prompt Strategy</a:t>
            </a:r>
          </a:p>
        </p:txBody>
      </p:sp>
      <p:sp>
        <p:nvSpPr>
          <p:cNvPr id="3" name="Content Placeholder 2">
            <a:extLst>
              <a:ext uri="{FF2B5EF4-FFF2-40B4-BE49-F238E27FC236}">
                <a16:creationId xmlns:a16="http://schemas.microsoft.com/office/drawing/2014/main" id="{C8CCA614-B381-FE3F-D54D-6EDE73F00036}"/>
              </a:ext>
            </a:extLst>
          </p:cNvPr>
          <p:cNvSpPr>
            <a:spLocks noGrp="1"/>
          </p:cNvSpPr>
          <p:nvPr>
            <p:ph idx="1"/>
          </p:nvPr>
        </p:nvSpPr>
        <p:spPr>
          <a:xfrm>
            <a:off x="455811" y="956276"/>
            <a:ext cx="11280378" cy="743933"/>
          </a:xfrm>
        </p:spPr>
        <p:txBody>
          <a:bodyPr>
            <a:noAutofit/>
          </a:bodyPr>
          <a:lstStyle/>
          <a:p>
            <a:pPr marL="0" indent="0">
              <a:buNone/>
            </a:pPr>
            <a:r>
              <a:rPr lang="en-US" sz="2000" b="1" i="1" dirty="0">
                <a:solidFill>
                  <a:schemeClr val="bg1"/>
                </a:solidFill>
              </a:rPr>
              <a:t>Purpose</a:t>
            </a:r>
            <a:r>
              <a:rPr lang="en-US" sz="2000" i="1" dirty="0">
                <a:solidFill>
                  <a:schemeClr val="bg1"/>
                </a:solidFill>
              </a:rPr>
              <a:t>: </a:t>
            </a:r>
            <a:r>
              <a:rPr lang="en-US" sz="2000" dirty="0">
                <a:solidFill>
                  <a:schemeClr val="bg1"/>
                </a:solidFill>
              </a:rPr>
              <a:t>Design a scalable global AI prompt framework that detects and classifies duplicate catalog items accurately across languages, scripts, and measurement systems.</a:t>
            </a:r>
          </a:p>
          <a:p>
            <a:pPr marL="0" indent="0">
              <a:buNone/>
            </a:pPr>
            <a:endParaRPr lang="en-US" sz="2000" dirty="0">
              <a:solidFill>
                <a:schemeClr val="bg1"/>
              </a:solidFill>
            </a:endParaRPr>
          </a:p>
        </p:txBody>
      </p:sp>
      <p:sp>
        <p:nvSpPr>
          <p:cNvPr id="5" name="Title 1">
            <a:extLst>
              <a:ext uri="{FF2B5EF4-FFF2-40B4-BE49-F238E27FC236}">
                <a16:creationId xmlns:a16="http://schemas.microsoft.com/office/drawing/2014/main" id="{671F90D3-D123-2262-31F8-7B54C19E2EC5}"/>
              </a:ext>
            </a:extLst>
          </p:cNvPr>
          <p:cNvSpPr txBox="1">
            <a:spLocks/>
          </p:cNvSpPr>
          <p:nvPr/>
        </p:nvSpPr>
        <p:spPr>
          <a:xfrm>
            <a:off x="1745672" y="1667562"/>
            <a:ext cx="8827077" cy="55317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b="1" dirty="0">
                <a:solidFill>
                  <a:schemeClr val="bg1"/>
                </a:solidFill>
              </a:rPr>
              <a:t>Prompt Overview</a:t>
            </a:r>
          </a:p>
        </p:txBody>
      </p:sp>
      <p:sp>
        <p:nvSpPr>
          <p:cNvPr id="7" name="Content Placeholder 2">
            <a:extLst>
              <a:ext uri="{FF2B5EF4-FFF2-40B4-BE49-F238E27FC236}">
                <a16:creationId xmlns:a16="http://schemas.microsoft.com/office/drawing/2014/main" id="{C60A42C1-6FDB-3B3E-CDC9-9CD4D3C4B6A4}"/>
              </a:ext>
            </a:extLst>
          </p:cNvPr>
          <p:cNvSpPr txBox="1">
            <a:spLocks/>
          </p:cNvSpPr>
          <p:nvPr/>
        </p:nvSpPr>
        <p:spPr>
          <a:xfrm>
            <a:off x="455811" y="2251666"/>
            <a:ext cx="11280378" cy="7439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chemeClr val="bg1"/>
                </a:solidFill>
              </a:rPr>
              <a:t>The idea behind creating the prompts revolved around 3 main catalog techniques – </a:t>
            </a:r>
          </a:p>
          <a:p>
            <a:r>
              <a:rPr lang="en-US" sz="2000" b="1" dirty="0">
                <a:solidFill>
                  <a:schemeClr val="bg1"/>
                </a:solidFill>
              </a:rPr>
              <a:t>PACK SIZE DETECTION</a:t>
            </a:r>
          </a:p>
          <a:p>
            <a:r>
              <a:rPr lang="en-US" sz="2000" b="1" dirty="0">
                <a:solidFill>
                  <a:schemeClr val="bg1"/>
                </a:solidFill>
              </a:rPr>
              <a:t>ATTRIBUTE INFERENCE</a:t>
            </a:r>
          </a:p>
          <a:p>
            <a:r>
              <a:rPr lang="en-US" sz="2000" b="1" dirty="0">
                <a:solidFill>
                  <a:schemeClr val="bg1"/>
                </a:solidFill>
              </a:rPr>
              <a:t>IMAGE VALIDATION</a:t>
            </a:r>
          </a:p>
        </p:txBody>
      </p:sp>
      <p:sp>
        <p:nvSpPr>
          <p:cNvPr id="8" name="Title 1">
            <a:extLst>
              <a:ext uri="{FF2B5EF4-FFF2-40B4-BE49-F238E27FC236}">
                <a16:creationId xmlns:a16="http://schemas.microsoft.com/office/drawing/2014/main" id="{33805012-9B60-C921-558E-78B349D35B0B}"/>
              </a:ext>
            </a:extLst>
          </p:cNvPr>
          <p:cNvSpPr txBox="1">
            <a:spLocks/>
          </p:cNvSpPr>
          <p:nvPr/>
        </p:nvSpPr>
        <p:spPr>
          <a:xfrm>
            <a:off x="842964" y="3934506"/>
            <a:ext cx="10529886" cy="55317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b="1" dirty="0">
                <a:solidFill>
                  <a:schemeClr val="bg1"/>
                </a:solidFill>
              </a:rPr>
              <a:t>Why does Retail Grocery focus these catalog techniques?</a:t>
            </a:r>
          </a:p>
        </p:txBody>
      </p:sp>
      <p:sp>
        <p:nvSpPr>
          <p:cNvPr id="9" name="Content Placeholder 2">
            <a:extLst>
              <a:ext uri="{FF2B5EF4-FFF2-40B4-BE49-F238E27FC236}">
                <a16:creationId xmlns:a16="http://schemas.microsoft.com/office/drawing/2014/main" id="{CC787CE6-8D82-7B3E-9DCD-499289E1F926}"/>
              </a:ext>
            </a:extLst>
          </p:cNvPr>
          <p:cNvSpPr txBox="1">
            <a:spLocks/>
          </p:cNvSpPr>
          <p:nvPr/>
        </p:nvSpPr>
        <p:spPr>
          <a:xfrm>
            <a:off x="519021" y="4625506"/>
            <a:ext cx="11280378" cy="7439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bg1"/>
                </a:solidFill>
              </a:rPr>
              <a:t>Based on research, pack size helps in optimizing inventory management &amp; the system can also alert the team when products run out of stock.</a:t>
            </a:r>
          </a:p>
          <a:p>
            <a:r>
              <a:rPr lang="en-US" sz="2000" dirty="0">
                <a:solidFill>
                  <a:schemeClr val="bg1"/>
                </a:solidFill>
              </a:rPr>
              <a:t>Attribute inferencing would help in enhancing the quality of the catalog to a great extent by generating more accurate substitutions when products are low.</a:t>
            </a:r>
          </a:p>
          <a:p>
            <a:r>
              <a:rPr lang="en-US" sz="2000" dirty="0">
                <a:solidFill>
                  <a:schemeClr val="bg1"/>
                </a:solidFill>
              </a:rPr>
              <a:t>Millions of SKUs are uploaded in an online retail catalog daily &amp; image validation helps detect the right product which enhances accuracy. </a:t>
            </a:r>
          </a:p>
        </p:txBody>
      </p:sp>
    </p:spTree>
    <p:extLst>
      <p:ext uri="{BB962C8B-B14F-4D97-AF65-F5344CB8AC3E}">
        <p14:creationId xmlns:p14="http://schemas.microsoft.com/office/powerpoint/2010/main" val="209707633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CE62841-62F5-42BD-82E3-5E26ACFC08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63B6C-5698-9783-5B68-C6E1265E23F0}"/>
              </a:ext>
            </a:extLst>
          </p:cNvPr>
          <p:cNvSpPr>
            <a:spLocks noGrp="1"/>
          </p:cNvSpPr>
          <p:nvPr>
            <p:ph type="title"/>
          </p:nvPr>
        </p:nvSpPr>
        <p:spPr>
          <a:xfrm>
            <a:off x="1745673" y="230590"/>
            <a:ext cx="7826828" cy="553179"/>
          </a:xfrm>
        </p:spPr>
        <p:txBody>
          <a:bodyPr>
            <a:normAutofit fontScale="90000"/>
          </a:bodyPr>
          <a:lstStyle/>
          <a:p>
            <a:pPr algn="ctr"/>
            <a:r>
              <a:rPr lang="en-US" b="1" dirty="0">
                <a:solidFill>
                  <a:schemeClr val="bg1"/>
                </a:solidFill>
              </a:rPr>
              <a:t>AI Prompt Evolution Strategy</a:t>
            </a:r>
          </a:p>
        </p:txBody>
      </p:sp>
      <p:graphicFrame>
        <p:nvGraphicFramePr>
          <p:cNvPr id="11" name="Content Placeholder 10">
            <a:extLst>
              <a:ext uri="{FF2B5EF4-FFF2-40B4-BE49-F238E27FC236}">
                <a16:creationId xmlns:a16="http://schemas.microsoft.com/office/drawing/2014/main" id="{A371DF80-FE0F-CE36-B67A-E5AE09833CBC}"/>
              </a:ext>
            </a:extLst>
          </p:cNvPr>
          <p:cNvGraphicFramePr>
            <a:graphicFrameLocks noGrp="1"/>
          </p:cNvGraphicFramePr>
          <p:nvPr>
            <p:ph idx="1"/>
            <p:extLst>
              <p:ext uri="{D42A27DB-BD31-4B8C-83A1-F6EECF244321}">
                <p14:modId xmlns:p14="http://schemas.microsoft.com/office/powerpoint/2010/main" val="4072996945"/>
              </p:ext>
            </p:extLst>
          </p:nvPr>
        </p:nvGraphicFramePr>
        <p:xfrm>
          <a:off x="352425" y="982651"/>
          <a:ext cx="11700441" cy="5710911"/>
        </p:xfrm>
        <a:graphic>
          <a:graphicData uri="http://schemas.openxmlformats.org/drawingml/2006/table">
            <a:tbl>
              <a:tblPr firstRow="1" bandRow="1">
                <a:tableStyleId>{073A0DAA-6AF3-43AB-8588-CEC1D06C72B9}</a:tableStyleId>
              </a:tblPr>
              <a:tblGrid>
                <a:gridCol w="3900147">
                  <a:extLst>
                    <a:ext uri="{9D8B030D-6E8A-4147-A177-3AD203B41FA5}">
                      <a16:colId xmlns:a16="http://schemas.microsoft.com/office/drawing/2014/main" val="1248822003"/>
                    </a:ext>
                  </a:extLst>
                </a:gridCol>
                <a:gridCol w="3900147">
                  <a:extLst>
                    <a:ext uri="{9D8B030D-6E8A-4147-A177-3AD203B41FA5}">
                      <a16:colId xmlns:a16="http://schemas.microsoft.com/office/drawing/2014/main" val="1840735823"/>
                    </a:ext>
                  </a:extLst>
                </a:gridCol>
                <a:gridCol w="3900147">
                  <a:extLst>
                    <a:ext uri="{9D8B030D-6E8A-4147-A177-3AD203B41FA5}">
                      <a16:colId xmlns:a16="http://schemas.microsoft.com/office/drawing/2014/main" val="1326297346"/>
                    </a:ext>
                  </a:extLst>
                </a:gridCol>
              </a:tblGrid>
              <a:tr h="864591">
                <a:tc>
                  <a:txBody>
                    <a:bodyPr/>
                    <a:lstStyle/>
                    <a:p>
                      <a:pPr algn="ctr"/>
                      <a:r>
                        <a:rPr lang="en-US" sz="3200" dirty="0"/>
                        <a:t>Prompt Version</a:t>
                      </a:r>
                    </a:p>
                  </a:txBody>
                  <a:tcPr/>
                </a:tc>
                <a:tc>
                  <a:txBody>
                    <a:bodyPr/>
                    <a:lstStyle/>
                    <a:p>
                      <a:r>
                        <a:rPr lang="en-US" sz="3200" b="1" kern="1200" dirty="0">
                          <a:solidFill>
                            <a:schemeClr val="lt1"/>
                          </a:solidFill>
                          <a:latin typeface="+mn-lt"/>
                          <a:ea typeface="+mn-ea"/>
                          <a:cs typeface="+mn-cs"/>
                        </a:rPr>
                        <a:t>   Prompt Function</a:t>
                      </a:r>
                    </a:p>
                  </a:txBody>
                  <a:tcPr/>
                </a:tc>
                <a:tc>
                  <a:txBody>
                    <a:bodyPr/>
                    <a:lstStyle/>
                    <a:p>
                      <a:r>
                        <a:rPr lang="en-US" sz="3200" b="1" kern="1200" dirty="0">
                          <a:solidFill>
                            <a:schemeClr val="lt1"/>
                          </a:solidFill>
                          <a:latin typeface="+mn-lt"/>
                          <a:ea typeface="+mn-ea"/>
                          <a:cs typeface="+mn-cs"/>
                        </a:rPr>
                        <a:t>              Output</a:t>
                      </a:r>
                    </a:p>
                  </a:txBody>
                  <a:tcPr/>
                </a:tc>
                <a:extLst>
                  <a:ext uri="{0D108BD9-81ED-4DB2-BD59-A6C34878D82A}">
                    <a16:rowId xmlns:a16="http://schemas.microsoft.com/office/drawing/2014/main" val="491638425"/>
                  </a:ext>
                </a:extLst>
              </a:tr>
              <a:tr h="864591">
                <a:tc>
                  <a:txBody>
                    <a:bodyPr/>
                    <a:lstStyle/>
                    <a:p>
                      <a:r>
                        <a:rPr lang="en-US" dirty="0"/>
                        <a:t>Version 1 : Start with a basic prompt</a:t>
                      </a:r>
                    </a:p>
                  </a:txBody>
                  <a:tcPr/>
                </a:tc>
                <a:tc>
                  <a:txBody>
                    <a:bodyPr/>
                    <a:lstStyle/>
                    <a:p>
                      <a:r>
                        <a:rPr lang="en-US" dirty="0" err="1"/>
                        <a:t>Eg</a:t>
                      </a:r>
                      <a:r>
                        <a:rPr lang="en-US" dirty="0"/>
                        <a:t> : Tell me if product a and product b are duplicates or not?</a:t>
                      </a:r>
                    </a:p>
                  </a:txBody>
                  <a:tcPr/>
                </a:tc>
                <a:tc>
                  <a:txBody>
                    <a:bodyPr/>
                    <a:lstStyle/>
                    <a:p>
                      <a:r>
                        <a:rPr lang="en-US" dirty="0"/>
                        <a:t>LLM will provide an answer based on what they interpret but can be wrong too.</a:t>
                      </a:r>
                    </a:p>
                  </a:txBody>
                  <a:tcPr/>
                </a:tc>
                <a:extLst>
                  <a:ext uri="{0D108BD9-81ED-4DB2-BD59-A6C34878D82A}">
                    <a16:rowId xmlns:a16="http://schemas.microsoft.com/office/drawing/2014/main" val="1448982281"/>
                  </a:ext>
                </a:extLst>
              </a:tr>
              <a:tr h="864591">
                <a:tc>
                  <a:txBody>
                    <a:bodyPr/>
                    <a:lstStyle/>
                    <a:p>
                      <a:r>
                        <a:rPr lang="en-US" dirty="0"/>
                        <a:t>Version 2: Prompt with constraints</a:t>
                      </a:r>
                    </a:p>
                  </a:txBody>
                  <a:tcPr/>
                </a:tc>
                <a:tc>
                  <a:txBody>
                    <a:bodyPr/>
                    <a:lstStyle/>
                    <a:p>
                      <a:r>
                        <a:rPr lang="en-US" dirty="0" err="1"/>
                        <a:t>Eg</a:t>
                      </a:r>
                      <a:r>
                        <a:rPr lang="en-US" dirty="0"/>
                        <a:t> : Use the rules mentioned in the prompt &amp; tell me if both products are duplicates or not?</a:t>
                      </a:r>
                    </a:p>
                  </a:txBody>
                  <a:tcPr/>
                </a:tc>
                <a:tc>
                  <a:txBody>
                    <a:bodyPr/>
                    <a:lstStyle/>
                    <a:p>
                      <a:r>
                        <a:rPr lang="en-US" dirty="0"/>
                        <a:t>LLM will now have a better response and accuracy will be slightly better than previous response.</a:t>
                      </a:r>
                    </a:p>
                  </a:txBody>
                  <a:tcPr/>
                </a:tc>
                <a:extLst>
                  <a:ext uri="{0D108BD9-81ED-4DB2-BD59-A6C34878D82A}">
                    <a16:rowId xmlns:a16="http://schemas.microsoft.com/office/drawing/2014/main" val="1526106881"/>
                  </a:ext>
                </a:extLst>
              </a:tr>
              <a:tr h="864591">
                <a:tc>
                  <a:txBody>
                    <a:bodyPr/>
                    <a:lstStyle/>
                    <a:p>
                      <a:r>
                        <a:rPr lang="en-US" dirty="0"/>
                        <a:t>Version 3 : Prompt with specific product attributes</a:t>
                      </a:r>
                    </a:p>
                  </a:txBody>
                  <a:tcPr/>
                </a:tc>
                <a:tc>
                  <a:txBody>
                    <a:bodyPr/>
                    <a:lstStyle/>
                    <a:p>
                      <a:r>
                        <a:rPr lang="en-US" dirty="0" err="1"/>
                        <a:t>Eg</a:t>
                      </a:r>
                      <a:r>
                        <a:rPr lang="en-US" dirty="0"/>
                        <a:t> : Using brand name, and other product info identify the pack size of the product and classify as duplicate or not?</a:t>
                      </a:r>
                    </a:p>
                  </a:txBody>
                  <a:tcPr/>
                </a:tc>
                <a:tc>
                  <a:txBody>
                    <a:bodyPr/>
                    <a:lstStyle/>
                    <a:p>
                      <a:r>
                        <a:rPr lang="en-US" dirty="0"/>
                        <a:t>LLM will give a very accurate response and will try to find the closest match possible. </a:t>
                      </a:r>
                    </a:p>
                  </a:txBody>
                  <a:tcPr/>
                </a:tc>
                <a:extLst>
                  <a:ext uri="{0D108BD9-81ED-4DB2-BD59-A6C34878D82A}">
                    <a16:rowId xmlns:a16="http://schemas.microsoft.com/office/drawing/2014/main" val="2577367283"/>
                  </a:ext>
                </a:extLst>
              </a:tr>
              <a:tr h="864591">
                <a:tc>
                  <a:txBody>
                    <a:bodyPr/>
                    <a:lstStyle/>
                    <a:p>
                      <a:r>
                        <a:rPr lang="en-US" dirty="0"/>
                        <a:t>Version 4 : Prompt using a different language for Global Scaling</a:t>
                      </a:r>
                    </a:p>
                  </a:txBody>
                  <a:tcPr/>
                </a:tc>
                <a:tc>
                  <a:txBody>
                    <a:bodyPr/>
                    <a:lstStyle/>
                    <a:p>
                      <a:r>
                        <a:rPr lang="en-US" dirty="0" err="1"/>
                        <a:t>Eg</a:t>
                      </a:r>
                      <a:r>
                        <a:rPr lang="en-US" dirty="0"/>
                        <a:t> : By using localized units specific to each language, it will detect based on the query we ask.</a:t>
                      </a:r>
                    </a:p>
                  </a:txBody>
                  <a:tcPr/>
                </a:tc>
                <a:tc>
                  <a:txBody>
                    <a:bodyPr/>
                    <a:lstStyle/>
                    <a:p>
                      <a:r>
                        <a:rPr lang="en-US" dirty="0"/>
                        <a:t>This will help us scale globally if we provide localized stop words, units, etc.</a:t>
                      </a:r>
                    </a:p>
                  </a:txBody>
                  <a:tcPr/>
                </a:tc>
                <a:extLst>
                  <a:ext uri="{0D108BD9-81ED-4DB2-BD59-A6C34878D82A}">
                    <a16:rowId xmlns:a16="http://schemas.microsoft.com/office/drawing/2014/main" val="3563255172"/>
                  </a:ext>
                </a:extLst>
              </a:tr>
              <a:tr h="864591">
                <a:tc>
                  <a:txBody>
                    <a:bodyPr/>
                    <a:lstStyle/>
                    <a:p>
                      <a:r>
                        <a:rPr lang="en-US" dirty="0"/>
                        <a:t>Version 5 : Using different catalog detection techniques</a:t>
                      </a:r>
                    </a:p>
                  </a:txBody>
                  <a:tcPr/>
                </a:tc>
                <a:tc>
                  <a:txBody>
                    <a:bodyPr/>
                    <a:lstStyle/>
                    <a:p>
                      <a:r>
                        <a:rPr lang="en-US" sz="1800" kern="1200" dirty="0" err="1">
                          <a:solidFill>
                            <a:schemeClr val="dk1"/>
                          </a:solidFill>
                          <a:latin typeface="+mn-lt"/>
                          <a:ea typeface="+mn-ea"/>
                          <a:cs typeface="+mn-cs"/>
                        </a:rPr>
                        <a:t>Eg</a:t>
                      </a:r>
                      <a:r>
                        <a:rPr lang="en-US" sz="1800" kern="1200" dirty="0">
                          <a:solidFill>
                            <a:schemeClr val="dk1"/>
                          </a:solidFill>
                          <a:latin typeface="+mn-lt"/>
                          <a:ea typeface="+mn-ea"/>
                          <a:cs typeface="+mn-cs"/>
                        </a:rPr>
                        <a:t> : Extract count * size and normalize units from: ‘Pack x 12 cerveza corona </a:t>
                      </a:r>
                      <a:r>
                        <a:rPr lang="en-US" sz="1800" kern="1200" dirty="0" err="1">
                          <a:solidFill>
                            <a:schemeClr val="dk1"/>
                          </a:solidFill>
                          <a:latin typeface="+mn-lt"/>
                          <a:ea typeface="+mn-ea"/>
                          <a:cs typeface="+mn-cs"/>
                        </a:rPr>
                        <a:t>botella</a:t>
                      </a:r>
                      <a:r>
                        <a:rPr lang="en-US" sz="1800" kern="1200" dirty="0">
                          <a:solidFill>
                            <a:schemeClr val="dk1"/>
                          </a:solidFill>
                          <a:latin typeface="+mn-lt"/>
                          <a:ea typeface="+mn-ea"/>
                          <a:cs typeface="+mn-cs"/>
                        </a:rPr>
                        <a:t> 355 ml’</a:t>
                      </a:r>
                    </a:p>
                  </a:txBody>
                  <a:tcPr/>
                </a:tc>
                <a:tc>
                  <a:txBody>
                    <a:bodyPr/>
                    <a:lstStyle/>
                    <a:p>
                      <a:r>
                        <a:rPr lang="en-US" dirty="0"/>
                        <a:t>This will help us reduce the false merges that happen across the catalog.</a:t>
                      </a:r>
                    </a:p>
                  </a:txBody>
                  <a:tcPr/>
                </a:tc>
                <a:extLst>
                  <a:ext uri="{0D108BD9-81ED-4DB2-BD59-A6C34878D82A}">
                    <a16:rowId xmlns:a16="http://schemas.microsoft.com/office/drawing/2014/main" val="3676314127"/>
                  </a:ext>
                </a:extLst>
              </a:tr>
            </a:tbl>
          </a:graphicData>
        </a:graphic>
      </p:graphicFrame>
    </p:spTree>
    <p:extLst>
      <p:ext uri="{BB962C8B-B14F-4D97-AF65-F5344CB8AC3E}">
        <p14:creationId xmlns:p14="http://schemas.microsoft.com/office/powerpoint/2010/main" val="430889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E34E416-1155-642A-40F1-FAAD5BA351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60C4E-FBF1-C51B-9B4A-424F7EC48305}"/>
              </a:ext>
            </a:extLst>
          </p:cNvPr>
          <p:cNvSpPr>
            <a:spLocks noGrp="1"/>
          </p:cNvSpPr>
          <p:nvPr>
            <p:ph type="title"/>
          </p:nvPr>
        </p:nvSpPr>
        <p:spPr>
          <a:xfrm>
            <a:off x="900120" y="230590"/>
            <a:ext cx="9015288" cy="553179"/>
          </a:xfrm>
        </p:spPr>
        <p:txBody>
          <a:bodyPr>
            <a:normAutofit fontScale="90000"/>
          </a:bodyPr>
          <a:lstStyle/>
          <a:p>
            <a:pPr algn="ctr"/>
            <a:r>
              <a:rPr lang="en-US" b="1" dirty="0">
                <a:solidFill>
                  <a:schemeClr val="bg1"/>
                </a:solidFill>
              </a:rPr>
              <a:t>AI Prompt Classification Logic Workflow</a:t>
            </a:r>
          </a:p>
        </p:txBody>
      </p:sp>
      <p:sp>
        <p:nvSpPr>
          <p:cNvPr id="13" name="Alternate Process 12">
            <a:extLst>
              <a:ext uri="{FF2B5EF4-FFF2-40B4-BE49-F238E27FC236}">
                <a16:creationId xmlns:a16="http://schemas.microsoft.com/office/drawing/2014/main" id="{816810AA-1F93-6F2E-C1E4-90FA521F75AB}"/>
              </a:ext>
            </a:extLst>
          </p:cNvPr>
          <p:cNvSpPr/>
          <p:nvPr/>
        </p:nvSpPr>
        <p:spPr>
          <a:xfrm>
            <a:off x="259766" y="1490663"/>
            <a:ext cx="3190875" cy="1738312"/>
          </a:xfrm>
          <a:prstGeom prst="flowChartAlternate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lternate Process 13">
            <a:extLst>
              <a:ext uri="{FF2B5EF4-FFF2-40B4-BE49-F238E27FC236}">
                <a16:creationId xmlns:a16="http://schemas.microsoft.com/office/drawing/2014/main" id="{256B9D73-B15E-7E0B-E7AE-C9A456410352}"/>
              </a:ext>
            </a:extLst>
          </p:cNvPr>
          <p:cNvSpPr/>
          <p:nvPr/>
        </p:nvSpPr>
        <p:spPr>
          <a:xfrm>
            <a:off x="4495793" y="1490663"/>
            <a:ext cx="3190875" cy="1738312"/>
          </a:xfrm>
          <a:prstGeom prst="flowChartAlternate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lternate Process 14">
            <a:extLst>
              <a:ext uri="{FF2B5EF4-FFF2-40B4-BE49-F238E27FC236}">
                <a16:creationId xmlns:a16="http://schemas.microsoft.com/office/drawing/2014/main" id="{5E8F990C-CBBF-D521-5A7C-F5E91E55CA60}"/>
              </a:ext>
            </a:extLst>
          </p:cNvPr>
          <p:cNvSpPr/>
          <p:nvPr/>
        </p:nvSpPr>
        <p:spPr>
          <a:xfrm>
            <a:off x="8731820" y="1490663"/>
            <a:ext cx="3190875" cy="1738312"/>
          </a:xfrm>
          <a:prstGeom prst="flowChartAlternate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lternate Process 15">
            <a:extLst>
              <a:ext uri="{FF2B5EF4-FFF2-40B4-BE49-F238E27FC236}">
                <a16:creationId xmlns:a16="http://schemas.microsoft.com/office/drawing/2014/main" id="{3D6549CC-3253-5B3E-85B2-90021E8EE3BF}"/>
              </a:ext>
            </a:extLst>
          </p:cNvPr>
          <p:cNvSpPr/>
          <p:nvPr/>
        </p:nvSpPr>
        <p:spPr>
          <a:xfrm>
            <a:off x="259766" y="4386263"/>
            <a:ext cx="3190875" cy="1738312"/>
          </a:xfrm>
          <a:prstGeom prst="flowChartAlternate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lternate Process 16">
            <a:extLst>
              <a:ext uri="{FF2B5EF4-FFF2-40B4-BE49-F238E27FC236}">
                <a16:creationId xmlns:a16="http://schemas.microsoft.com/office/drawing/2014/main" id="{666721D3-812D-47F5-6460-B25483B839FF}"/>
              </a:ext>
            </a:extLst>
          </p:cNvPr>
          <p:cNvSpPr/>
          <p:nvPr/>
        </p:nvSpPr>
        <p:spPr>
          <a:xfrm>
            <a:off x="4495793" y="4386263"/>
            <a:ext cx="3190875" cy="1738312"/>
          </a:xfrm>
          <a:prstGeom prst="flowChartAlternate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lternate Process 17">
            <a:extLst>
              <a:ext uri="{FF2B5EF4-FFF2-40B4-BE49-F238E27FC236}">
                <a16:creationId xmlns:a16="http://schemas.microsoft.com/office/drawing/2014/main" id="{DCC2B7AE-EAD5-D807-83D7-931DDDB71321}"/>
              </a:ext>
            </a:extLst>
          </p:cNvPr>
          <p:cNvSpPr/>
          <p:nvPr/>
        </p:nvSpPr>
        <p:spPr>
          <a:xfrm>
            <a:off x="8731820" y="4386263"/>
            <a:ext cx="3190875" cy="1738312"/>
          </a:xfrm>
          <a:prstGeom prst="flowChartAlternate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11D604FB-0E3B-2697-7187-D4CE99CDD5D2}"/>
              </a:ext>
            </a:extLst>
          </p:cNvPr>
          <p:cNvSpPr/>
          <p:nvPr/>
        </p:nvSpPr>
        <p:spPr>
          <a:xfrm>
            <a:off x="3529011" y="2114546"/>
            <a:ext cx="923918" cy="4286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D6C12465-88F7-017E-4F14-C12C5DE4FF87}"/>
              </a:ext>
            </a:extLst>
          </p:cNvPr>
          <p:cNvSpPr/>
          <p:nvPr/>
        </p:nvSpPr>
        <p:spPr>
          <a:xfrm>
            <a:off x="7729532" y="2114545"/>
            <a:ext cx="923918" cy="4286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own Arrow 21">
            <a:extLst>
              <a:ext uri="{FF2B5EF4-FFF2-40B4-BE49-F238E27FC236}">
                <a16:creationId xmlns:a16="http://schemas.microsoft.com/office/drawing/2014/main" id="{5644C761-7650-9ECB-663B-45EE97F00964}"/>
              </a:ext>
            </a:extLst>
          </p:cNvPr>
          <p:cNvSpPr/>
          <p:nvPr/>
        </p:nvSpPr>
        <p:spPr>
          <a:xfrm>
            <a:off x="10121332" y="3328987"/>
            <a:ext cx="411849" cy="95726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C02F49FA-69E1-BAAB-5786-0EA0A405291D}"/>
              </a:ext>
            </a:extLst>
          </p:cNvPr>
          <p:cNvSpPr/>
          <p:nvPr/>
        </p:nvSpPr>
        <p:spPr>
          <a:xfrm flipH="1">
            <a:off x="7686668" y="5041106"/>
            <a:ext cx="923918" cy="4286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a:extLst>
              <a:ext uri="{FF2B5EF4-FFF2-40B4-BE49-F238E27FC236}">
                <a16:creationId xmlns:a16="http://schemas.microsoft.com/office/drawing/2014/main" id="{7D610F6C-1E78-312F-A533-27400C6C355E}"/>
              </a:ext>
            </a:extLst>
          </p:cNvPr>
          <p:cNvSpPr/>
          <p:nvPr/>
        </p:nvSpPr>
        <p:spPr>
          <a:xfrm flipH="1">
            <a:off x="3450641" y="5041105"/>
            <a:ext cx="923918" cy="4286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4DE220BF-D6F3-F51D-A187-58F213F5DA04}"/>
              </a:ext>
            </a:extLst>
          </p:cNvPr>
          <p:cNvSpPr txBox="1"/>
          <p:nvPr/>
        </p:nvSpPr>
        <p:spPr>
          <a:xfrm>
            <a:off x="442913" y="1757365"/>
            <a:ext cx="2814637" cy="1200329"/>
          </a:xfrm>
          <a:prstGeom prst="rect">
            <a:avLst/>
          </a:prstGeom>
          <a:noFill/>
        </p:spPr>
        <p:txBody>
          <a:bodyPr wrap="square" rtlCol="0">
            <a:spAutoFit/>
          </a:bodyPr>
          <a:lstStyle/>
          <a:p>
            <a:r>
              <a:rPr lang="en-US" b="1" dirty="0"/>
              <a:t>Step 1: Add prompt rules for normalization &amp; Standardization(</a:t>
            </a:r>
            <a:r>
              <a:rPr lang="en-US" b="1" dirty="0" err="1"/>
              <a:t>e.g</a:t>
            </a:r>
            <a:r>
              <a:rPr lang="en-US" b="1" dirty="0"/>
              <a:t> 3l to 3000ml)</a:t>
            </a:r>
          </a:p>
        </p:txBody>
      </p:sp>
      <p:sp>
        <p:nvSpPr>
          <p:cNvPr id="32" name="TextBox 31">
            <a:extLst>
              <a:ext uri="{FF2B5EF4-FFF2-40B4-BE49-F238E27FC236}">
                <a16:creationId xmlns:a16="http://schemas.microsoft.com/office/drawing/2014/main" id="{C789688C-514E-9730-4367-B113348A5D74}"/>
              </a:ext>
            </a:extLst>
          </p:cNvPr>
          <p:cNvSpPr txBox="1"/>
          <p:nvPr/>
        </p:nvSpPr>
        <p:spPr>
          <a:xfrm>
            <a:off x="8919937" y="1643059"/>
            <a:ext cx="2814637" cy="1477328"/>
          </a:xfrm>
          <a:prstGeom prst="rect">
            <a:avLst/>
          </a:prstGeom>
          <a:noFill/>
        </p:spPr>
        <p:txBody>
          <a:bodyPr wrap="square" rtlCol="0">
            <a:spAutoFit/>
          </a:bodyPr>
          <a:lstStyle/>
          <a:p>
            <a:r>
              <a:rPr lang="en-US" b="1" dirty="0"/>
              <a:t>Step 3: Add prompt rules, if product name| brand| package = Different then classify as ‘Not Duplicate’</a:t>
            </a:r>
          </a:p>
        </p:txBody>
      </p:sp>
      <p:sp>
        <p:nvSpPr>
          <p:cNvPr id="33" name="TextBox 32">
            <a:extLst>
              <a:ext uri="{FF2B5EF4-FFF2-40B4-BE49-F238E27FC236}">
                <a16:creationId xmlns:a16="http://schemas.microsoft.com/office/drawing/2014/main" id="{AE9A6455-6164-3711-E98B-7DE305688836}"/>
              </a:ext>
            </a:extLst>
          </p:cNvPr>
          <p:cNvSpPr txBox="1"/>
          <p:nvPr/>
        </p:nvSpPr>
        <p:spPr>
          <a:xfrm>
            <a:off x="4683911" y="1643060"/>
            <a:ext cx="2814637" cy="1661993"/>
          </a:xfrm>
          <a:prstGeom prst="rect">
            <a:avLst/>
          </a:prstGeom>
          <a:noFill/>
        </p:spPr>
        <p:txBody>
          <a:bodyPr wrap="square" rtlCol="0">
            <a:spAutoFit/>
          </a:bodyPr>
          <a:lstStyle/>
          <a:p>
            <a:r>
              <a:rPr lang="en-US" sz="1700" b="1" dirty="0"/>
              <a:t>Step 2: Comparing Attributes/Standardization</a:t>
            </a:r>
          </a:p>
          <a:p>
            <a:pPr marL="285750" indent="-285750">
              <a:buFont typeface="Arial" panose="020B0604020202020204" pitchFamily="34" charset="0"/>
              <a:buChar char="•"/>
            </a:pPr>
            <a:r>
              <a:rPr lang="en-US" sz="1700" b="1" dirty="0"/>
              <a:t>Brand comparison</a:t>
            </a:r>
          </a:p>
          <a:p>
            <a:pPr marL="285750" indent="-285750">
              <a:buFont typeface="Arial" panose="020B0604020202020204" pitchFamily="34" charset="0"/>
              <a:buChar char="•"/>
            </a:pPr>
            <a:r>
              <a:rPr lang="en-US" sz="1700" b="1" dirty="0"/>
              <a:t>Unit comparison</a:t>
            </a:r>
          </a:p>
          <a:p>
            <a:pPr marL="285750" indent="-285750">
              <a:buFont typeface="Arial" panose="020B0604020202020204" pitchFamily="34" charset="0"/>
              <a:buChar char="•"/>
            </a:pPr>
            <a:r>
              <a:rPr lang="en-US" sz="1700" b="1" dirty="0"/>
              <a:t>Attribute comparison</a:t>
            </a:r>
          </a:p>
          <a:p>
            <a:pPr marL="285750" indent="-285750">
              <a:buFont typeface="Arial" panose="020B0604020202020204" pitchFamily="34" charset="0"/>
              <a:buChar char="•"/>
            </a:pPr>
            <a:endParaRPr lang="en-US" sz="1700" b="1" dirty="0"/>
          </a:p>
        </p:txBody>
      </p:sp>
      <p:sp>
        <p:nvSpPr>
          <p:cNvPr id="34" name="TextBox 33">
            <a:extLst>
              <a:ext uri="{FF2B5EF4-FFF2-40B4-BE49-F238E27FC236}">
                <a16:creationId xmlns:a16="http://schemas.microsoft.com/office/drawing/2014/main" id="{8383DC05-31C3-9A9E-E19F-4DFD46C070C4}"/>
              </a:ext>
            </a:extLst>
          </p:cNvPr>
          <p:cNvSpPr txBox="1"/>
          <p:nvPr/>
        </p:nvSpPr>
        <p:spPr>
          <a:xfrm>
            <a:off x="4683911" y="4740979"/>
            <a:ext cx="2814637" cy="923330"/>
          </a:xfrm>
          <a:prstGeom prst="rect">
            <a:avLst/>
          </a:prstGeom>
          <a:noFill/>
        </p:spPr>
        <p:txBody>
          <a:bodyPr wrap="square" rtlCol="0">
            <a:spAutoFit/>
          </a:bodyPr>
          <a:lstStyle/>
          <a:p>
            <a:r>
              <a:rPr lang="en-US" b="1" dirty="0"/>
              <a:t>Step 5: Prompt decision with explanation for generated output</a:t>
            </a:r>
          </a:p>
        </p:txBody>
      </p:sp>
      <p:sp>
        <p:nvSpPr>
          <p:cNvPr id="35" name="TextBox 34">
            <a:extLst>
              <a:ext uri="{FF2B5EF4-FFF2-40B4-BE49-F238E27FC236}">
                <a16:creationId xmlns:a16="http://schemas.microsoft.com/office/drawing/2014/main" id="{3C4ADD61-480B-5C32-2A92-F2A92D4654EE}"/>
              </a:ext>
            </a:extLst>
          </p:cNvPr>
          <p:cNvSpPr txBox="1"/>
          <p:nvPr/>
        </p:nvSpPr>
        <p:spPr>
          <a:xfrm>
            <a:off x="442912" y="4569525"/>
            <a:ext cx="2814637" cy="1477328"/>
          </a:xfrm>
          <a:prstGeom prst="rect">
            <a:avLst/>
          </a:prstGeom>
          <a:noFill/>
        </p:spPr>
        <p:txBody>
          <a:bodyPr wrap="square" rtlCol="0">
            <a:spAutoFit/>
          </a:bodyPr>
          <a:lstStyle/>
          <a:p>
            <a:r>
              <a:rPr lang="en-US" b="1" dirty="0"/>
              <a:t>Step 6: Action </a:t>
            </a:r>
          </a:p>
          <a:p>
            <a:pPr marL="285750" indent="-285750">
              <a:buFont typeface="Arial" panose="020B0604020202020204" pitchFamily="34" charset="0"/>
              <a:buChar char="•"/>
            </a:pPr>
            <a:r>
              <a:rPr lang="en-US" b="1" dirty="0"/>
              <a:t>&gt; 95 = Enters system</a:t>
            </a:r>
          </a:p>
          <a:p>
            <a:pPr marL="285750" indent="-285750">
              <a:buFont typeface="Arial" panose="020B0604020202020204" pitchFamily="34" charset="0"/>
              <a:buChar char="•"/>
            </a:pPr>
            <a:r>
              <a:rPr lang="en-US" b="1" dirty="0"/>
              <a:t>&lt; 95 &amp; &gt;75 – Human review</a:t>
            </a:r>
          </a:p>
          <a:p>
            <a:pPr marL="285750" indent="-285750">
              <a:buFont typeface="Arial" panose="020B0604020202020204" pitchFamily="34" charset="0"/>
              <a:buChar char="•"/>
            </a:pPr>
            <a:r>
              <a:rPr lang="en-US" b="1" dirty="0"/>
              <a:t>&lt; 75 = Unique product</a:t>
            </a:r>
          </a:p>
        </p:txBody>
      </p:sp>
      <p:sp>
        <p:nvSpPr>
          <p:cNvPr id="36" name="TextBox 35">
            <a:extLst>
              <a:ext uri="{FF2B5EF4-FFF2-40B4-BE49-F238E27FC236}">
                <a16:creationId xmlns:a16="http://schemas.microsoft.com/office/drawing/2014/main" id="{C10C3251-D6A6-28F3-94C6-660AAA341800}"/>
              </a:ext>
            </a:extLst>
          </p:cNvPr>
          <p:cNvSpPr txBox="1"/>
          <p:nvPr/>
        </p:nvSpPr>
        <p:spPr>
          <a:xfrm>
            <a:off x="8912738" y="4655251"/>
            <a:ext cx="2814637" cy="1200329"/>
          </a:xfrm>
          <a:prstGeom prst="rect">
            <a:avLst/>
          </a:prstGeom>
          <a:noFill/>
        </p:spPr>
        <p:txBody>
          <a:bodyPr wrap="square" rtlCol="0">
            <a:spAutoFit/>
          </a:bodyPr>
          <a:lstStyle/>
          <a:p>
            <a:r>
              <a:rPr lang="en-US" b="1" dirty="0"/>
              <a:t>Step 4:Check similarity score of products that are close match of each other.</a:t>
            </a:r>
          </a:p>
        </p:txBody>
      </p:sp>
    </p:spTree>
    <p:extLst>
      <p:ext uri="{BB962C8B-B14F-4D97-AF65-F5344CB8AC3E}">
        <p14:creationId xmlns:p14="http://schemas.microsoft.com/office/powerpoint/2010/main" val="3569741377"/>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6CC24F0-5847-2ABD-F5F4-C47B7A8EF6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B40CB-B81E-6110-B7C9-489DA3C12040}"/>
              </a:ext>
            </a:extLst>
          </p:cNvPr>
          <p:cNvSpPr>
            <a:spLocks noGrp="1"/>
          </p:cNvSpPr>
          <p:nvPr>
            <p:ph type="title"/>
          </p:nvPr>
        </p:nvSpPr>
        <p:spPr>
          <a:xfrm>
            <a:off x="900120" y="230590"/>
            <a:ext cx="9015288" cy="553179"/>
          </a:xfrm>
        </p:spPr>
        <p:txBody>
          <a:bodyPr>
            <a:normAutofit fontScale="90000"/>
          </a:bodyPr>
          <a:lstStyle/>
          <a:p>
            <a:pPr algn="ctr"/>
            <a:r>
              <a:rPr lang="en-US" b="1" dirty="0">
                <a:solidFill>
                  <a:schemeClr val="bg1"/>
                </a:solidFill>
              </a:rPr>
              <a:t>Detecting Duplicate Types</a:t>
            </a:r>
          </a:p>
        </p:txBody>
      </p:sp>
      <p:sp>
        <p:nvSpPr>
          <p:cNvPr id="3" name="Oval 2">
            <a:extLst>
              <a:ext uri="{FF2B5EF4-FFF2-40B4-BE49-F238E27FC236}">
                <a16:creationId xmlns:a16="http://schemas.microsoft.com/office/drawing/2014/main" id="{EADDA68B-CBFC-0622-6FAF-4955FD0C6177}"/>
              </a:ext>
            </a:extLst>
          </p:cNvPr>
          <p:cNvSpPr/>
          <p:nvPr/>
        </p:nvSpPr>
        <p:spPr>
          <a:xfrm>
            <a:off x="376237" y="1157277"/>
            <a:ext cx="3576637" cy="333851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814A8F26-4269-68DF-2F35-FE88BC23015C}"/>
              </a:ext>
            </a:extLst>
          </p:cNvPr>
          <p:cNvSpPr/>
          <p:nvPr/>
        </p:nvSpPr>
        <p:spPr>
          <a:xfrm>
            <a:off x="4364831" y="1157276"/>
            <a:ext cx="3576637" cy="333851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E6D9F841-9FD2-B826-6270-AA8C8AAD3555}"/>
              </a:ext>
            </a:extLst>
          </p:cNvPr>
          <p:cNvSpPr/>
          <p:nvPr/>
        </p:nvSpPr>
        <p:spPr>
          <a:xfrm>
            <a:off x="8353425" y="1157275"/>
            <a:ext cx="3576637" cy="333851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F04AAAD-6FA3-8C7A-721F-66FEB0D70AE0}"/>
              </a:ext>
            </a:extLst>
          </p:cNvPr>
          <p:cNvSpPr txBox="1"/>
          <p:nvPr/>
        </p:nvSpPr>
        <p:spPr>
          <a:xfrm>
            <a:off x="833437" y="2320672"/>
            <a:ext cx="3119437" cy="1200329"/>
          </a:xfrm>
          <a:prstGeom prst="rect">
            <a:avLst/>
          </a:prstGeom>
          <a:noFill/>
        </p:spPr>
        <p:txBody>
          <a:bodyPr wrap="square" rtlCol="0">
            <a:spAutoFit/>
          </a:bodyPr>
          <a:lstStyle/>
          <a:p>
            <a:r>
              <a:rPr lang="en-US" sz="2400" b="1" dirty="0"/>
              <a:t>Type 1 : Same product, different packaging</a:t>
            </a:r>
          </a:p>
        </p:txBody>
      </p:sp>
      <p:sp>
        <p:nvSpPr>
          <p:cNvPr id="28" name="TextBox 27">
            <a:extLst>
              <a:ext uri="{FF2B5EF4-FFF2-40B4-BE49-F238E27FC236}">
                <a16:creationId xmlns:a16="http://schemas.microsoft.com/office/drawing/2014/main" id="{91B161A5-CACC-66A0-05F0-34A0B455FCFA}"/>
              </a:ext>
            </a:extLst>
          </p:cNvPr>
          <p:cNvSpPr txBox="1"/>
          <p:nvPr/>
        </p:nvSpPr>
        <p:spPr>
          <a:xfrm>
            <a:off x="8993871" y="2226366"/>
            <a:ext cx="2707598" cy="1200329"/>
          </a:xfrm>
          <a:prstGeom prst="rect">
            <a:avLst/>
          </a:prstGeom>
          <a:noFill/>
        </p:spPr>
        <p:txBody>
          <a:bodyPr wrap="square" rtlCol="0">
            <a:spAutoFit/>
          </a:bodyPr>
          <a:lstStyle/>
          <a:p>
            <a:r>
              <a:rPr lang="en-US" sz="2400" b="1" dirty="0"/>
              <a:t>Type 3 : Same unit, synonyms for size</a:t>
            </a:r>
          </a:p>
        </p:txBody>
      </p:sp>
      <p:sp>
        <p:nvSpPr>
          <p:cNvPr id="29" name="TextBox 28">
            <a:extLst>
              <a:ext uri="{FF2B5EF4-FFF2-40B4-BE49-F238E27FC236}">
                <a16:creationId xmlns:a16="http://schemas.microsoft.com/office/drawing/2014/main" id="{A6E486E4-E557-F3DA-4FB0-E0536C4F8C00}"/>
              </a:ext>
            </a:extLst>
          </p:cNvPr>
          <p:cNvSpPr txBox="1"/>
          <p:nvPr/>
        </p:nvSpPr>
        <p:spPr>
          <a:xfrm>
            <a:off x="4731432" y="2269619"/>
            <a:ext cx="3210036" cy="1200329"/>
          </a:xfrm>
          <a:prstGeom prst="rect">
            <a:avLst/>
          </a:prstGeom>
          <a:noFill/>
        </p:spPr>
        <p:txBody>
          <a:bodyPr wrap="square" rtlCol="0">
            <a:spAutoFit/>
          </a:bodyPr>
          <a:lstStyle/>
          <a:p>
            <a:r>
              <a:rPr lang="en-US" sz="2400" b="1" dirty="0"/>
              <a:t>Type 2 : Same brand, minor misspellings / variant</a:t>
            </a:r>
          </a:p>
        </p:txBody>
      </p:sp>
      <p:sp>
        <p:nvSpPr>
          <p:cNvPr id="30" name="TextBox 29">
            <a:extLst>
              <a:ext uri="{FF2B5EF4-FFF2-40B4-BE49-F238E27FC236}">
                <a16:creationId xmlns:a16="http://schemas.microsoft.com/office/drawing/2014/main" id="{8AAFC382-DF91-ABD0-B1B2-2F13A1F224B9}"/>
              </a:ext>
            </a:extLst>
          </p:cNvPr>
          <p:cNvSpPr txBox="1"/>
          <p:nvPr/>
        </p:nvSpPr>
        <p:spPr>
          <a:xfrm>
            <a:off x="564355" y="4981575"/>
            <a:ext cx="320040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solidFill>
                  <a:schemeClr val="bg1"/>
                </a:solidFill>
              </a:rPr>
              <a:t>Type 1 Duplicates Count : 27687</a:t>
            </a:r>
          </a:p>
        </p:txBody>
      </p:sp>
      <p:sp>
        <p:nvSpPr>
          <p:cNvPr id="31" name="TextBox 30">
            <a:extLst>
              <a:ext uri="{FF2B5EF4-FFF2-40B4-BE49-F238E27FC236}">
                <a16:creationId xmlns:a16="http://schemas.microsoft.com/office/drawing/2014/main" id="{93B17034-35B9-1C15-5813-D058828954FC}"/>
              </a:ext>
            </a:extLst>
          </p:cNvPr>
          <p:cNvSpPr txBox="1"/>
          <p:nvPr/>
        </p:nvSpPr>
        <p:spPr>
          <a:xfrm>
            <a:off x="8729662" y="4981575"/>
            <a:ext cx="320040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solidFill>
                  <a:schemeClr val="bg1"/>
                </a:solidFill>
              </a:rPr>
              <a:t>Type 3 Duplicates Count : 938</a:t>
            </a:r>
          </a:p>
        </p:txBody>
      </p:sp>
      <p:sp>
        <p:nvSpPr>
          <p:cNvPr id="37" name="TextBox 36">
            <a:extLst>
              <a:ext uri="{FF2B5EF4-FFF2-40B4-BE49-F238E27FC236}">
                <a16:creationId xmlns:a16="http://schemas.microsoft.com/office/drawing/2014/main" id="{02B729CB-437C-DCB4-202D-2F060DA336AA}"/>
              </a:ext>
            </a:extLst>
          </p:cNvPr>
          <p:cNvSpPr txBox="1"/>
          <p:nvPr/>
        </p:nvSpPr>
        <p:spPr>
          <a:xfrm>
            <a:off x="4948238" y="4981575"/>
            <a:ext cx="3200400"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solidFill>
                  <a:schemeClr val="bg1"/>
                </a:solidFill>
              </a:rPr>
              <a:t>Type 2 Duplicates Count : 9323</a:t>
            </a:r>
          </a:p>
        </p:txBody>
      </p:sp>
    </p:spTree>
    <p:extLst>
      <p:ext uri="{BB962C8B-B14F-4D97-AF65-F5344CB8AC3E}">
        <p14:creationId xmlns:p14="http://schemas.microsoft.com/office/powerpoint/2010/main" val="170163794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065729C-66D8-3538-872E-48FA934385A9}"/>
            </a:ext>
          </a:extLst>
        </p:cNvPr>
        <p:cNvGrpSpPr/>
        <p:nvPr/>
      </p:nvGrpSpPr>
      <p:grpSpPr>
        <a:xfrm>
          <a:off x="0" y="0"/>
          <a:ext cx="0" cy="0"/>
          <a:chOff x="0" y="0"/>
          <a:chExt cx="0" cy="0"/>
        </a:xfrm>
      </p:grpSpPr>
      <p:sp>
        <p:nvSpPr>
          <p:cNvPr id="8" name="Freeform 7">
            <a:extLst>
              <a:ext uri="{FF2B5EF4-FFF2-40B4-BE49-F238E27FC236}">
                <a16:creationId xmlns:a16="http://schemas.microsoft.com/office/drawing/2014/main" id="{335851B7-8A3F-59B1-4FEC-427893A99EDA}"/>
              </a:ext>
            </a:extLst>
          </p:cNvPr>
          <p:cNvSpPr/>
          <p:nvPr/>
        </p:nvSpPr>
        <p:spPr>
          <a:xfrm>
            <a:off x="-4014787" y="-1"/>
            <a:ext cx="11637818" cy="6858000"/>
          </a:xfrm>
          <a:custGeom>
            <a:avLst/>
            <a:gdLst>
              <a:gd name="connsiteX0" fmla="*/ 0 w 11637818"/>
              <a:gd name="connsiteY0" fmla="*/ 0 h 6858000"/>
              <a:gd name="connsiteX1" fmla="*/ 11091553 w 11637818"/>
              <a:gd name="connsiteY1" fmla="*/ 0 h 6858000"/>
              <a:gd name="connsiteX2" fmla="*/ 11091553 w 11637818"/>
              <a:gd name="connsiteY2" fmla="*/ 5035138 h 6858000"/>
              <a:gd name="connsiteX3" fmla="*/ 11483436 w 11637818"/>
              <a:gd name="connsiteY3" fmla="*/ 5035138 h 6858000"/>
              <a:gd name="connsiteX4" fmla="*/ 11637818 w 11637818"/>
              <a:gd name="connsiteY4" fmla="*/ 5189520 h 6858000"/>
              <a:gd name="connsiteX5" fmla="*/ 11637818 w 11637818"/>
              <a:gd name="connsiteY5" fmla="*/ 5807031 h 6858000"/>
              <a:gd name="connsiteX6" fmla="*/ 11483436 w 11637818"/>
              <a:gd name="connsiteY6" fmla="*/ 5961413 h 6858000"/>
              <a:gd name="connsiteX7" fmla="*/ 11091553 w 11637818"/>
              <a:gd name="connsiteY7" fmla="*/ 5961413 h 6858000"/>
              <a:gd name="connsiteX8" fmla="*/ 11091553 w 11637818"/>
              <a:gd name="connsiteY8" fmla="*/ 6858000 h 6858000"/>
              <a:gd name="connsiteX9" fmla="*/ 0 w 11637818"/>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7818" h="6858000">
                <a:moveTo>
                  <a:pt x="0" y="0"/>
                </a:moveTo>
                <a:lnTo>
                  <a:pt x="11091553" y="0"/>
                </a:lnTo>
                <a:lnTo>
                  <a:pt x="11091553" y="5035138"/>
                </a:lnTo>
                <a:lnTo>
                  <a:pt x="11483436" y="5035138"/>
                </a:lnTo>
                <a:cubicBezTo>
                  <a:pt x="11568699" y="5035138"/>
                  <a:pt x="11637818" y="5104257"/>
                  <a:pt x="11637818" y="5189520"/>
                </a:cubicBezTo>
                <a:lnTo>
                  <a:pt x="11637818" y="5807031"/>
                </a:lnTo>
                <a:cubicBezTo>
                  <a:pt x="11637818" y="5892294"/>
                  <a:pt x="11568699" y="5961413"/>
                  <a:pt x="11483436" y="5961413"/>
                </a:cubicBezTo>
                <a:lnTo>
                  <a:pt x="11091553" y="5961413"/>
                </a:lnTo>
                <a:lnTo>
                  <a:pt x="11091553" y="6858000"/>
                </a:lnTo>
                <a:lnTo>
                  <a:pt x="0" y="6858000"/>
                </a:lnTo>
                <a:close/>
              </a:path>
            </a:pathLst>
          </a:custGeom>
          <a:solidFill>
            <a:schemeClr val="bg1"/>
          </a:solidFill>
          <a:ln>
            <a:noFill/>
          </a:ln>
          <a:effectLst>
            <a:outerShdw blurRad="127000" dist="50800" dir="5400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2">
            <a:extLst>
              <a:ext uri="{FF2B5EF4-FFF2-40B4-BE49-F238E27FC236}">
                <a16:creationId xmlns:a16="http://schemas.microsoft.com/office/drawing/2014/main" id="{2B0CC540-BCF3-6F13-C76A-C7FA7EEE24C1}"/>
              </a:ext>
            </a:extLst>
          </p:cNvPr>
          <p:cNvSpPr/>
          <p:nvPr/>
        </p:nvSpPr>
        <p:spPr>
          <a:xfrm>
            <a:off x="-4869811" y="-1"/>
            <a:ext cx="11625942" cy="6858000"/>
          </a:xfrm>
          <a:custGeom>
            <a:avLst/>
            <a:gdLst>
              <a:gd name="connsiteX0" fmla="*/ 0 w 11625942"/>
              <a:gd name="connsiteY0" fmla="*/ 0 h 6858000"/>
              <a:gd name="connsiteX1" fmla="*/ 11091553 w 11625942"/>
              <a:gd name="connsiteY1" fmla="*/ 0 h 6858000"/>
              <a:gd name="connsiteX2" fmla="*/ 11091553 w 11625942"/>
              <a:gd name="connsiteY2" fmla="*/ 3548742 h 6858000"/>
              <a:gd name="connsiteX3" fmla="*/ 11471560 w 11625942"/>
              <a:gd name="connsiteY3" fmla="*/ 3548742 h 6858000"/>
              <a:gd name="connsiteX4" fmla="*/ 11625942 w 11625942"/>
              <a:gd name="connsiteY4" fmla="*/ 3703124 h 6858000"/>
              <a:gd name="connsiteX5" fmla="*/ 11625942 w 11625942"/>
              <a:gd name="connsiteY5" fmla="*/ 4320635 h 6858000"/>
              <a:gd name="connsiteX6" fmla="*/ 11471560 w 11625942"/>
              <a:gd name="connsiteY6" fmla="*/ 4475017 h 6858000"/>
              <a:gd name="connsiteX7" fmla="*/ 11091553 w 11625942"/>
              <a:gd name="connsiteY7" fmla="*/ 4475017 h 6858000"/>
              <a:gd name="connsiteX8" fmla="*/ 11091553 w 11625942"/>
              <a:gd name="connsiteY8" fmla="*/ 6858000 h 6858000"/>
              <a:gd name="connsiteX9" fmla="*/ 0 w 11625942"/>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25942" h="6858000">
                <a:moveTo>
                  <a:pt x="0" y="0"/>
                </a:moveTo>
                <a:lnTo>
                  <a:pt x="11091553" y="0"/>
                </a:lnTo>
                <a:lnTo>
                  <a:pt x="11091553" y="3548742"/>
                </a:lnTo>
                <a:lnTo>
                  <a:pt x="11471560" y="3548742"/>
                </a:lnTo>
                <a:cubicBezTo>
                  <a:pt x="11556823" y="3548742"/>
                  <a:pt x="11625942" y="3617861"/>
                  <a:pt x="11625942" y="3703124"/>
                </a:cubicBezTo>
                <a:lnTo>
                  <a:pt x="11625942" y="4320635"/>
                </a:lnTo>
                <a:cubicBezTo>
                  <a:pt x="11625942" y="4405898"/>
                  <a:pt x="11556823" y="4475017"/>
                  <a:pt x="11471560" y="4475017"/>
                </a:cubicBezTo>
                <a:lnTo>
                  <a:pt x="11091553" y="4475017"/>
                </a:lnTo>
                <a:lnTo>
                  <a:pt x="11091553" y="6858000"/>
                </a:lnTo>
                <a:lnTo>
                  <a:pt x="0" y="6858000"/>
                </a:lnTo>
                <a:close/>
              </a:path>
            </a:pathLst>
          </a:custGeom>
          <a:solidFill>
            <a:schemeClr val="bg1">
              <a:lumMod val="85000"/>
              <a:lumOff val="15000"/>
            </a:schemeClr>
          </a:solidFill>
          <a:ln>
            <a:noFill/>
          </a:ln>
          <a:effectLst>
            <a:outerShdw blurRad="127000" dist="63500" dir="5400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14">
            <a:extLst>
              <a:ext uri="{FF2B5EF4-FFF2-40B4-BE49-F238E27FC236}">
                <a16:creationId xmlns:a16="http://schemas.microsoft.com/office/drawing/2014/main" id="{9FF564BB-19BB-5252-C176-2CC12AE7F62B}"/>
              </a:ext>
            </a:extLst>
          </p:cNvPr>
          <p:cNvSpPr/>
          <p:nvPr/>
        </p:nvSpPr>
        <p:spPr>
          <a:xfrm>
            <a:off x="-5736711" y="0"/>
            <a:ext cx="11625942" cy="6858000"/>
          </a:xfrm>
          <a:custGeom>
            <a:avLst/>
            <a:gdLst>
              <a:gd name="connsiteX0" fmla="*/ 0 w 11625942"/>
              <a:gd name="connsiteY0" fmla="*/ 0 h 6858000"/>
              <a:gd name="connsiteX1" fmla="*/ 11091553 w 11625942"/>
              <a:gd name="connsiteY1" fmla="*/ 0 h 6858000"/>
              <a:gd name="connsiteX2" fmla="*/ 11091553 w 11625942"/>
              <a:gd name="connsiteY2" fmla="*/ 2062346 h 6858000"/>
              <a:gd name="connsiteX3" fmla="*/ 11471560 w 11625942"/>
              <a:gd name="connsiteY3" fmla="*/ 2062346 h 6858000"/>
              <a:gd name="connsiteX4" fmla="*/ 11625942 w 11625942"/>
              <a:gd name="connsiteY4" fmla="*/ 2216728 h 6858000"/>
              <a:gd name="connsiteX5" fmla="*/ 11625942 w 11625942"/>
              <a:gd name="connsiteY5" fmla="*/ 2834239 h 6858000"/>
              <a:gd name="connsiteX6" fmla="*/ 11471560 w 11625942"/>
              <a:gd name="connsiteY6" fmla="*/ 2988621 h 6858000"/>
              <a:gd name="connsiteX7" fmla="*/ 11091553 w 11625942"/>
              <a:gd name="connsiteY7" fmla="*/ 2988621 h 6858000"/>
              <a:gd name="connsiteX8" fmla="*/ 11091553 w 11625942"/>
              <a:gd name="connsiteY8" fmla="*/ 6858000 h 6858000"/>
              <a:gd name="connsiteX9" fmla="*/ 0 w 11625942"/>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25942" h="6858000">
                <a:moveTo>
                  <a:pt x="0" y="0"/>
                </a:moveTo>
                <a:lnTo>
                  <a:pt x="11091553" y="0"/>
                </a:lnTo>
                <a:lnTo>
                  <a:pt x="11091553" y="2062346"/>
                </a:lnTo>
                <a:lnTo>
                  <a:pt x="11471560" y="2062346"/>
                </a:lnTo>
                <a:cubicBezTo>
                  <a:pt x="11556823" y="2062346"/>
                  <a:pt x="11625942" y="2131465"/>
                  <a:pt x="11625942" y="2216728"/>
                </a:cubicBezTo>
                <a:lnTo>
                  <a:pt x="11625942" y="2834239"/>
                </a:lnTo>
                <a:cubicBezTo>
                  <a:pt x="11625942" y="2919502"/>
                  <a:pt x="11556823" y="2988621"/>
                  <a:pt x="11471560" y="2988621"/>
                </a:cubicBezTo>
                <a:lnTo>
                  <a:pt x="11091553" y="2988621"/>
                </a:lnTo>
                <a:lnTo>
                  <a:pt x="11091553" y="6858000"/>
                </a:lnTo>
                <a:lnTo>
                  <a:pt x="0" y="6858000"/>
                </a:lnTo>
                <a:close/>
              </a:path>
            </a:pathLst>
          </a:custGeom>
          <a:solidFill>
            <a:schemeClr val="bg1">
              <a:lumMod val="75000"/>
              <a:lumOff val="25000"/>
            </a:schemeClr>
          </a:solidFill>
          <a:ln>
            <a:noFill/>
          </a:ln>
          <a:effectLst>
            <a:outerShdw blurRad="127000" dist="50800" dir="5400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15">
            <a:extLst>
              <a:ext uri="{FF2B5EF4-FFF2-40B4-BE49-F238E27FC236}">
                <a16:creationId xmlns:a16="http://schemas.microsoft.com/office/drawing/2014/main" id="{B6F1BA50-2139-1339-33E4-4758BB454C41}"/>
              </a:ext>
            </a:extLst>
          </p:cNvPr>
          <p:cNvSpPr/>
          <p:nvPr/>
        </p:nvSpPr>
        <p:spPr>
          <a:xfrm>
            <a:off x="-6603611" y="-2"/>
            <a:ext cx="11637818" cy="6858000"/>
          </a:xfrm>
          <a:custGeom>
            <a:avLst/>
            <a:gdLst>
              <a:gd name="connsiteX0" fmla="*/ 0 w 11637818"/>
              <a:gd name="connsiteY0" fmla="*/ 0 h 6858000"/>
              <a:gd name="connsiteX1" fmla="*/ 11091553 w 11637818"/>
              <a:gd name="connsiteY1" fmla="*/ 0 h 6858000"/>
              <a:gd name="connsiteX2" fmla="*/ 11091553 w 11637818"/>
              <a:gd name="connsiteY2" fmla="*/ 575950 h 6858000"/>
              <a:gd name="connsiteX3" fmla="*/ 11483436 w 11637818"/>
              <a:gd name="connsiteY3" fmla="*/ 575950 h 6858000"/>
              <a:gd name="connsiteX4" fmla="*/ 11637818 w 11637818"/>
              <a:gd name="connsiteY4" fmla="*/ 730332 h 6858000"/>
              <a:gd name="connsiteX5" fmla="*/ 11637818 w 11637818"/>
              <a:gd name="connsiteY5" fmla="*/ 1347843 h 6858000"/>
              <a:gd name="connsiteX6" fmla="*/ 11483436 w 11637818"/>
              <a:gd name="connsiteY6" fmla="*/ 1502225 h 6858000"/>
              <a:gd name="connsiteX7" fmla="*/ 11091553 w 11637818"/>
              <a:gd name="connsiteY7" fmla="*/ 1502225 h 6858000"/>
              <a:gd name="connsiteX8" fmla="*/ 11091553 w 11637818"/>
              <a:gd name="connsiteY8" fmla="*/ 6858000 h 6858000"/>
              <a:gd name="connsiteX9" fmla="*/ 0 w 11637818"/>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7818" h="6858000">
                <a:moveTo>
                  <a:pt x="0" y="0"/>
                </a:moveTo>
                <a:lnTo>
                  <a:pt x="11091553" y="0"/>
                </a:lnTo>
                <a:lnTo>
                  <a:pt x="11091553" y="575950"/>
                </a:lnTo>
                <a:lnTo>
                  <a:pt x="11483436" y="575950"/>
                </a:lnTo>
                <a:cubicBezTo>
                  <a:pt x="11568699" y="575950"/>
                  <a:pt x="11637818" y="645069"/>
                  <a:pt x="11637818" y="730332"/>
                </a:cubicBezTo>
                <a:lnTo>
                  <a:pt x="11637818" y="1347843"/>
                </a:lnTo>
                <a:cubicBezTo>
                  <a:pt x="11637818" y="1433106"/>
                  <a:pt x="11568699" y="1502225"/>
                  <a:pt x="11483436" y="1502225"/>
                </a:cubicBezTo>
                <a:lnTo>
                  <a:pt x="11091553" y="1502225"/>
                </a:lnTo>
                <a:lnTo>
                  <a:pt x="11091553" y="6858000"/>
                </a:lnTo>
                <a:lnTo>
                  <a:pt x="0" y="6858000"/>
                </a:lnTo>
                <a:close/>
              </a:path>
            </a:pathLst>
          </a:custGeom>
          <a:solidFill>
            <a:schemeClr val="bg1">
              <a:lumMod val="50000"/>
              <a:lumOff val="50000"/>
            </a:schemeClr>
          </a:solidFill>
          <a:ln>
            <a:noFill/>
          </a:ln>
          <a:effectLst>
            <a:outerShdw blurRad="127000" dist="50800" dir="5400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TextBox 17">
            <a:extLst>
              <a:ext uri="{FF2B5EF4-FFF2-40B4-BE49-F238E27FC236}">
                <a16:creationId xmlns:a16="http://schemas.microsoft.com/office/drawing/2014/main" id="{3EEFA29F-367E-6B5E-9D35-ABCC52221518}"/>
              </a:ext>
            </a:extLst>
          </p:cNvPr>
          <p:cNvSpPr txBox="1"/>
          <p:nvPr/>
        </p:nvSpPr>
        <p:spPr>
          <a:xfrm>
            <a:off x="7858126" y="2921166"/>
            <a:ext cx="3857625" cy="1015663"/>
          </a:xfrm>
          <a:prstGeom prst="rect">
            <a:avLst/>
          </a:prstGeom>
          <a:noFill/>
        </p:spPr>
        <p:txBody>
          <a:bodyPr wrap="square" rtlCol="0">
            <a:spAutoFit/>
          </a:bodyPr>
          <a:lstStyle/>
          <a:p>
            <a:r>
              <a:rPr lang="en-US" sz="6000" b="1" dirty="0">
                <a:solidFill>
                  <a:schemeClr val="bg1"/>
                </a:solidFill>
              </a:rPr>
              <a:t>INSIGHTS</a:t>
            </a:r>
          </a:p>
        </p:txBody>
      </p:sp>
    </p:spTree>
    <p:extLst>
      <p:ext uri="{BB962C8B-B14F-4D97-AF65-F5344CB8AC3E}">
        <p14:creationId xmlns:p14="http://schemas.microsoft.com/office/powerpoint/2010/main" val="20872642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38424B-D1E1-33F5-1C5B-177ED132D9B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D3817F6-CDCD-F5E8-1AC9-A082EFACEC2C}"/>
              </a:ext>
            </a:extLst>
          </p:cNvPr>
          <p:cNvPicPr>
            <a:picLocks noChangeAspect="1"/>
          </p:cNvPicPr>
          <p:nvPr/>
        </p:nvPicPr>
        <p:blipFill>
          <a:blip r:embed="rId2"/>
          <a:stretch>
            <a:fillRect/>
          </a:stretch>
        </p:blipFill>
        <p:spPr>
          <a:xfrm>
            <a:off x="757241" y="1435285"/>
            <a:ext cx="10905066" cy="5398008"/>
          </a:xfrm>
          <a:prstGeom prst="rect">
            <a:avLst/>
          </a:prstGeom>
        </p:spPr>
      </p:pic>
      <p:sp>
        <p:nvSpPr>
          <p:cNvPr id="6" name="Title 1">
            <a:extLst>
              <a:ext uri="{FF2B5EF4-FFF2-40B4-BE49-F238E27FC236}">
                <a16:creationId xmlns:a16="http://schemas.microsoft.com/office/drawing/2014/main" id="{38DDAF78-FD87-E2B9-6BD7-67F969656975}"/>
              </a:ext>
            </a:extLst>
          </p:cNvPr>
          <p:cNvSpPr>
            <a:spLocks noGrp="1"/>
          </p:cNvSpPr>
          <p:nvPr>
            <p:ph type="title"/>
          </p:nvPr>
        </p:nvSpPr>
        <p:spPr>
          <a:xfrm>
            <a:off x="900120" y="230590"/>
            <a:ext cx="9015288" cy="553179"/>
          </a:xfrm>
        </p:spPr>
        <p:txBody>
          <a:bodyPr>
            <a:normAutofit fontScale="90000"/>
          </a:bodyPr>
          <a:lstStyle/>
          <a:p>
            <a:pPr algn="ctr"/>
            <a:r>
              <a:rPr lang="en-US" b="1">
                <a:solidFill>
                  <a:schemeClr val="bg1"/>
                </a:solidFill>
              </a:rPr>
              <a:t>Adding Visualizations to Duplicates</a:t>
            </a:r>
            <a:endParaRPr lang="en-US" b="1" dirty="0">
              <a:solidFill>
                <a:schemeClr val="bg1"/>
              </a:solidFill>
            </a:endParaRPr>
          </a:p>
        </p:txBody>
      </p:sp>
      <p:sp>
        <p:nvSpPr>
          <p:cNvPr id="7" name="Content Placeholder 2">
            <a:extLst>
              <a:ext uri="{FF2B5EF4-FFF2-40B4-BE49-F238E27FC236}">
                <a16:creationId xmlns:a16="http://schemas.microsoft.com/office/drawing/2014/main" id="{E681A23D-03EF-6A5B-91B3-7F58B387BCCC}"/>
              </a:ext>
            </a:extLst>
          </p:cNvPr>
          <p:cNvSpPr>
            <a:spLocks noGrp="1"/>
          </p:cNvSpPr>
          <p:nvPr>
            <p:ph idx="1"/>
          </p:nvPr>
        </p:nvSpPr>
        <p:spPr>
          <a:xfrm>
            <a:off x="427235" y="827684"/>
            <a:ext cx="11280378" cy="553179"/>
          </a:xfrm>
        </p:spPr>
        <p:txBody>
          <a:bodyPr>
            <a:noAutofit/>
          </a:bodyPr>
          <a:lstStyle/>
          <a:p>
            <a:pPr marL="0" indent="0">
              <a:buNone/>
            </a:pPr>
            <a:r>
              <a:rPr lang="en-US" sz="1800" b="1" i="1">
                <a:solidFill>
                  <a:schemeClr val="bg1"/>
                </a:solidFill>
              </a:rPr>
              <a:t>Insight</a:t>
            </a:r>
            <a:r>
              <a:rPr lang="en-US" sz="1800" i="1">
                <a:solidFill>
                  <a:schemeClr val="bg1"/>
                </a:solidFill>
              </a:rPr>
              <a:t>: </a:t>
            </a:r>
            <a:r>
              <a:rPr lang="en-US" sz="1800">
                <a:solidFill>
                  <a:schemeClr val="bg1"/>
                </a:solidFill>
              </a:rPr>
              <a:t>Ortopedia has the highest number of duplicates than any other category. Verduras frescas , alimento seco are the 2</a:t>
            </a:r>
            <a:r>
              <a:rPr lang="en-US" sz="1800" baseline="30000">
                <a:solidFill>
                  <a:schemeClr val="bg1"/>
                </a:solidFill>
              </a:rPr>
              <a:t>nd</a:t>
            </a:r>
            <a:r>
              <a:rPr lang="en-US" sz="1800">
                <a:solidFill>
                  <a:schemeClr val="bg1"/>
                </a:solidFill>
              </a:rPr>
              <a:t> and 3</a:t>
            </a:r>
            <a:r>
              <a:rPr lang="en-US" sz="1800" baseline="30000">
                <a:solidFill>
                  <a:schemeClr val="bg1"/>
                </a:solidFill>
              </a:rPr>
              <a:t>rd</a:t>
            </a:r>
            <a:r>
              <a:rPr lang="en-US" sz="1800">
                <a:solidFill>
                  <a:schemeClr val="bg1"/>
                </a:solidFill>
              </a:rPr>
              <a:t> highest categories having duplicates in their products.</a:t>
            </a:r>
          </a:p>
          <a:p>
            <a:pPr marL="0" indent="0">
              <a:buNone/>
            </a:pPr>
            <a:endParaRPr lang="en-US" sz="1800" dirty="0">
              <a:solidFill>
                <a:schemeClr val="bg1"/>
              </a:solidFill>
            </a:endParaRPr>
          </a:p>
        </p:txBody>
      </p:sp>
    </p:spTree>
    <p:extLst>
      <p:ext uri="{BB962C8B-B14F-4D97-AF65-F5344CB8AC3E}">
        <p14:creationId xmlns:p14="http://schemas.microsoft.com/office/powerpoint/2010/main" val="41254927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292B72-1CAF-27CE-63E8-5D6129158C5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788CFBD-29FA-B583-45D0-829F73774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D647DA5-2695-A59A-2C1E-9A6E12FC9B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ECAD569C-5511-E591-1322-289A9208E383}"/>
              </a:ext>
            </a:extLst>
          </p:cNvPr>
          <p:cNvSpPr>
            <a:spLocks noGrp="1"/>
          </p:cNvSpPr>
          <p:nvPr>
            <p:ph type="title"/>
          </p:nvPr>
        </p:nvSpPr>
        <p:spPr>
          <a:xfrm>
            <a:off x="900120" y="230590"/>
            <a:ext cx="9015288" cy="553179"/>
          </a:xfrm>
        </p:spPr>
        <p:txBody>
          <a:bodyPr>
            <a:normAutofit fontScale="90000"/>
          </a:bodyPr>
          <a:lstStyle/>
          <a:p>
            <a:pPr algn="ctr"/>
            <a:r>
              <a:rPr lang="en-US" b="1">
                <a:solidFill>
                  <a:schemeClr val="bg1"/>
                </a:solidFill>
              </a:rPr>
              <a:t>Adding Visualizations to Duplicates</a:t>
            </a:r>
            <a:endParaRPr lang="en-US" b="1" dirty="0">
              <a:solidFill>
                <a:schemeClr val="bg1"/>
              </a:solidFill>
            </a:endParaRPr>
          </a:p>
        </p:txBody>
      </p:sp>
      <p:sp>
        <p:nvSpPr>
          <p:cNvPr id="7" name="Content Placeholder 2">
            <a:extLst>
              <a:ext uri="{FF2B5EF4-FFF2-40B4-BE49-F238E27FC236}">
                <a16:creationId xmlns:a16="http://schemas.microsoft.com/office/drawing/2014/main" id="{3F1E6B7A-4CF1-EB70-C56A-A0D1E1BA28B1}"/>
              </a:ext>
            </a:extLst>
          </p:cNvPr>
          <p:cNvSpPr>
            <a:spLocks noGrp="1"/>
          </p:cNvSpPr>
          <p:nvPr>
            <p:ph idx="1"/>
          </p:nvPr>
        </p:nvSpPr>
        <p:spPr>
          <a:xfrm>
            <a:off x="427235" y="827684"/>
            <a:ext cx="11280378" cy="553179"/>
          </a:xfrm>
        </p:spPr>
        <p:txBody>
          <a:bodyPr>
            <a:noAutofit/>
          </a:bodyPr>
          <a:lstStyle/>
          <a:p>
            <a:pPr marL="0" indent="0">
              <a:buNone/>
            </a:pPr>
            <a:r>
              <a:rPr lang="en-US" sz="1800" b="1" i="1" dirty="0">
                <a:solidFill>
                  <a:schemeClr val="bg1"/>
                </a:solidFill>
              </a:rPr>
              <a:t>Insight</a:t>
            </a:r>
            <a:r>
              <a:rPr lang="en-US" sz="1800" i="1" dirty="0">
                <a:solidFill>
                  <a:schemeClr val="bg1"/>
                </a:solidFill>
              </a:rPr>
              <a:t>: This graph shows us a detailed view on how each duplicated product does in terms of packaging variation</a:t>
            </a:r>
            <a:r>
              <a:rPr lang="en-US" sz="1800" dirty="0">
                <a:solidFill>
                  <a:schemeClr val="bg1"/>
                </a:solidFill>
              </a:rPr>
              <a:t>. ‘Salsa </a:t>
            </a:r>
            <a:r>
              <a:rPr lang="en-US" sz="1800" dirty="0" err="1">
                <a:solidFill>
                  <a:schemeClr val="bg1"/>
                </a:solidFill>
              </a:rPr>
              <a:t>tomate</a:t>
            </a:r>
            <a:r>
              <a:rPr lang="en-US" sz="1800" dirty="0">
                <a:solidFill>
                  <a:schemeClr val="bg1"/>
                </a:solidFill>
              </a:rPr>
              <a:t>’ product name is the highest with 63.</a:t>
            </a:r>
          </a:p>
          <a:p>
            <a:pPr marL="0" indent="0">
              <a:buNone/>
            </a:pPr>
            <a:endParaRPr lang="en-US" sz="1800" dirty="0">
              <a:solidFill>
                <a:schemeClr val="bg1"/>
              </a:solidFill>
            </a:endParaRPr>
          </a:p>
        </p:txBody>
      </p:sp>
      <p:pic>
        <p:nvPicPr>
          <p:cNvPr id="3" name="Picture 2">
            <a:extLst>
              <a:ext uri="{FF2B5EF4-FFF2-40B4-BE49-F238E27FC236}">
                <a16:creationId xmlns:a16="http://schemas.microsoft.com/office/drawing/2014/main" id="{654E51F7-B6BB-2C3C-684C-87EFF4A1D68A}"/>
              </a:ext>
            </a:extLst>
          </p:cNvPr>
          <p:cNvPicPr>
            <a:picLocks noChangeAspect="1"/>
          </p:cNvPicPr>
          <p:nvPr/>
        </p:nvPicPr>
        <p:blipFill>
          <a:blip r:embed="rId2"/>
          <a:stretch>
            <a:fillRect/>
          </a:stretch>
        </p:blipFill>
        <p:spPr>
          <a:xfrm>
            <a:off x="900119" y="1506547"/>
            <a:ext cx="9201143" cy="5216015"/>
          </a:xfrm>
          <a:prstGeom prst="rect">
            <a:avLst/>
          </a:prstGeom>
        </p:spPr>
      </p:pic>
    </p:spTree>
    <p:extLst>
      <p:ext uri="{BB962C8B-B14F-4D97-AF65-F5344CB8AC3E}">
        <p14:creationId xmlns:p14="http://schemas.microsoft.com/office/powerpoint/2010/main" val="1316033661"/>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F9A479-181B-CDFA-F6A6-F6A7FDB179C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EFDE781-3ED8-8ACC-7147-94BB0AF325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9C84A75-8D91-1CF9-2F8A-94A670FBA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F63B213E-58D0-EB0A-CC9D-7CCCB85F5C31}"/>
              </a:ext>
            </a:extLst>
          </p:cNvPr>
          <p:cNvSpPr>
            <a:spLocks noGrp="1"/>
          </p:cNvSpPr>
          <p:nvPr>
            <p:ph type="title"/>
          </p:nvPr>
        </p:nvSpPr>
        <p:spPr>
          <a:xfrm>
            <a:off x="900120" y="230590"/>
            <a:ext cx="9015288" cy="553179"/>
          </a:xfrm>
        </p:spPr>
        <p:txBody>
          <a:bodyPr>
            <a:normAutofit fontScale="90000"/>
          </a:bodyPr>
          <a:lstStyle/>
          <a:p>
            <a:pPr algn="ctr"/>
            <a:r>
              <a:rPr lang="en-US" b="1" dirty="0">
                <a:solidFill>
                  <a:schemeClr val="bg1"/>
                </a:solidFill>
              </a:rPr>
              <a:t>Adding Visualizations to Duplicates</a:t>
            </a:r>
          </a:p>
        </p:txBody>
      </p:sp>
      <p:sp>
        <p:nvSpPr>
          <p:cNvPr id="7" name="Content Placeholder 2">
            <a:extLst>
              <a:ext uri="{FF2B5EF4-FFF2-40B4-BE49-F238E27FC236}">
                <a16:creationId xmlns:a16="http://schemas.microsoft.com/office/drawing/2014/main" id="{2ACD9819-49BB-1E98-C377-3165C3E1A0EA}"/>
              </a:ext>
            </a:extLst>
          </p:cNvPr>
          <p:cNvSpPr>
            <a:spLocks noGrp="1"/>
          </p:cNvSpPr>
          <p:nvPr>
            <p:ph idx="1"/>
          </p:nvPr>
        </p:nvSpPr>
        <p:spPr>
          <a:xfrm>
            <a:off x="427235" y="1156300"/>
            <a:ext cx="2673153" cy="3387129"/>
          </a:xfrm>
        </p:spPr>
        <p:txBody>
          <a:bodyPr>
            <a:noAutofit/>
          </a:bodyPr>
          <a:lstStyle/>
          <a:p>
            <a:pPr marL="0" indent="0">
              <a:buNone/>
            </a:pPr>
            <a:r>
              <a:rPr lang="en-US" sz="2400" b="1" i="1" dirty="0">
                <a:solidFill>
                  <a:schemeClr val="bg1"/>
                </a:solidFill>
              </a:rPr>
              <a:t>Insight</a:t>
            </a:r>
            <a:r>
              <a:rPr lang="en-US" sz="2400" i="1" dirty="0">
                <a:solidFill>
                  <a:schemeClr val="bg1"/>
                </a:solidFill>
              </a:rPr>
              <a:t>: </a:t>
            </a:r>
            <a:r>
              <a:rPr lang="en-US" sz="2400" dirty="0">
                <a:solidFill>
                  <a:schemeClr val="bg1"/>
                </a:solidFill>
              </a:rPr>
              <a:t>This graph shows us a detailed view on how duplicated product names due to misspelling(Type 2 duplicates).</a:t>
            </a:r>
          </a:p>
          <a:p>
            <a:pPr marL="0" indent="0">
              <a:buNone/>
            </a:pPr>
            <a:endParaRPr lang="en-US" sz="2400" dirty="0">
              <a:solidFill>
                <a:schemeClr val="bg1"/>
              </a:solidFill>
            </a:endParaRPr>
          </a:p>
        </p:txBody>
      </p:sp>
      <p:pic>
        <p:nvPicPr>
          <p:cNvPr id="4" name="Picture 3">
            <a:extLst>
              <a:ext uri="{FF2B5EF4-FFF2-40B4-BE49-F238E27FC236}">
                <a16:creationId xmlns:a16="http://schemas.microsoft.com/office/drawing/2014/main" id="{0B46EDEA-8A1E-4483-7D46-3804E013DD02}"/>
              </a:ext>
            </a:extLst>
          </p:cNvPr>
          <p:cNvPicPr>
            <a:picLocks noChangeAspect="1"/>
          </p:cNvPicPr>
          <p:nvPr/>
        </p:nvPicPr>
        <p:blipFill>
          <a:blip r:embed="rId2"/>
          <a:stretch>
            <a:fillRect/>
          </a:stretch>
        </p:blipFill>
        <p:spPr>
          <a:xfrm>
            <a:off x="3165843" y="783769"/>
            <a:ext cx="8787652" cy="5843641"/>
          </a:xfrm>
          <a:prstGeom prst="rect">
            <a:avLst/>
          </a:prstGeom>
        </p:spPr>
      </p:pic>
    </p:spTree>
    <p:extLst>
      <p:ext uri="{BB962C8B-B14F-4D97-AF65-F5344CB8AC3E}">
        <p14:creationId xmlns:p14="http://schemas.microsoft.com/office/powerpoint/2010/main" val="1198121626"/>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5D1DF53-DBB4-1BEA-B220-CEB661676C1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0AE6CA1-4341-FF64-43AD-AADA7CC4CCF2}"/>
              </a:ext>
            </a:extLst>
          </p:cNvPr>
          <p:cNvPicPr>
            <a:picLocks noChangeAspect="1"/>
          </p:cNvPicPr>
          <p:nvPr/>
        </p:nvPicPr>
        <p:blipFill>
          <a:blip r:embed="rId2"/>
          <a:stretch>
            <a:fillRect/>
          </a:stretch>
        </p:blipFill>
        <p:spPr>
          <a:xfrm>
            <a:off x="3844925" y="997817"/>
            <a:ext cx="8347075" cy="5829435"/>
          </a:xfrm>
          <a:prstGeom prst="rect">
            <a:avLst/>
          </a:prstGeom>
        </p:spPr>
      </p:pic>
      <p:sp>
        <p:nvSpPr>
          <p:cNvPr id="4" name="Title 1">
            <a:extLst>
              <a:ext uri="{FF2B5EF4-FFF2-40B4-BE49-F238E27FC236}">
                <a16:creationId xmlns:a16="http://schemas.microsoft.com/office/drawing/2014/main" id="{5A8646E0-5E09-81BA-A315-292E46DC3F72}"/>
              </a:ext>
            </a:extLst>
          </p:cNvPr>
          <p:cNvSpPr>
            <a:spLocks noGrp="1"/>
          </p:cNvSpPr>
          <p:nvPr>
            <p:ph type="title"/>
          </p:nvPr>
        </p:nvSpPr>
        <p:spPr>
          <a:xfrm>
            <a:off x="900120" y="230590"/>
            <a:ext cx="9015288" cy="553179"/>
          </a:xfrm>
        </p:spPr>
        <p:txBody>
          <a:bodyPr>
            <a:normAutofit fontScale="90000"/>
          </a:bodyPr>
          <a:lstStyle/>
          <a:p>
            <a:pPr algn="ctr"/>
            <a:r>
              <a:rPr lang="en-US" b="1" dirty="0">
                <a:solidFill>
                  <a:schemeClr val="bg1"/>
                </a:solidFill>
              </a:rPr>
              <a:t>Adding Visualizations to Duplicates</a:t>
            </a:r>
          </a:p>
        </p:txBody>
      </p:sp>
      <p:sp>
        <p:nvSpPr>
          <p:cNvPr id="5" name="Content Placeholder 2">
            <a:extLst>
              <a:ext uri="{FF2B5EF4-FFF2-40B4-BE49-F238E27FC236}">
                <a16:creationId xmlns:a16="http://schemas.microsoft.com/office/drawing/2014/main" id="{D4ED33EE-FD05-12AE-D2E4-2B2001A166C7}"/>
              </a:ext>
            </a:extLst>
          </p:cNvPr>
          <p:cNvSpPr>
            <a:spLocks noGrp="1"/>
          </p:cNvSpPr>
          <p:nvPr>
            <p:ph idx="1"/>
          </p:nvPr>
        </p:nvSpPr>
        <p:spPr>
          <a:xfrm>
            <a:off x="427235" y="1156300"/>
            <a:ext cx="2673153" cy="4515838"/>
          </a:xfrm>
        </p:spPr>
        <p:txBody>
          <a:bodyPr>
            <a:noAutofit/>
          </a:bodyPr>
          <a:lstStyle/>
          <a:p>
            <a:pPr marL="0" indent="0">
              <a:buNone/>
            </a:pPr>
            <a:r>
              <a:rPr lang="en-US" sz="2400" b="1" i="1" dirty="0">
                <a:solidFill>
                  <a:schemeClr val="bg1"/>
                </a:solidFill>
              </a:rPr>
              <a:t>Insight</a:t>
            </a:r>
            <a:r>
              <a:rPr lang="en-US" sz="2400" i="1" dirty="0">
                <a:solidFill>
                  <a:schemeClr val="bg1"/>
                </a:solidFill>
              </a:rPr>
              <a:t>: </a:t>
            </a:r>
          </a:p>
          <a:p>
            <a:r>
              <a:rPr lang="en-US" sz="2400" dirty="0">
                <a:solidFill>
                  <a:schemeClr val="bg1"/>
                </a:solidFill>
              </a:rPr>
              <a:t>This view shows us most number of orders for each duplicate type. </a:t>
            </a:r>
          </a:p>
          <a:p>
            <a:r>
              <a:rPr lang="en-US" sz="2400" dirty="0">
                <a:solidFill>
                  <a:schemeClr val="bg1"/>
                </a:solidFill>
              </a:rPr>
              <a:t>Highest orders were placed for Type 1 duplicates followed by Type 2 and Type 3.</a:t>
            </a:r>
          </a:p>
        </p:txBody>
      </p:sp>
    </p:spTree>
    <p:extLst>
      <p:ext uri="{BB962C8B-B14F-4D97-AF65-F5344CB8AC3E}">
        <p14:creationId xmlns:p14="http://schemas.microsoft.com/office/powerpoint/2010/main" val="401352752"/>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C260B2C-2B4D-4B6F-5E1F-56643A8BE8C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D7812FB-84C1-5B82-CCEF-AE12325CBCEC}"/>
              </a:ext>
            </a:extLst>
          </p:cNvPr>
          <p:cNvSpPr>
            <a:spLocks noGrp="1"/>
          </p:cNvSpPr>
          <p:nvPr>
            <p:ph type="title"/>
          </p:nvPr>
        </p:nvSpPr>
        <p:spPr>
          <a:xfrm>
            <a:off x="900120" y="230590"/>
            <a:ext cx="9015288" cy="553179"/>
          </a:xfrm>
        </p:spPr>
        <p:txBody>
          <a:bodyPr>
            <a:normAutofit fontScale="90000"/>
          </a:bodyPr>
          <a:lstStyle/>
          <a:p>
            <a:pPr algn="ctr"/>
            <a:r>
              <a:rPr lang="en-US" b="1" dirty="0">
                <a:solidFill>
                  <a:schemeClr val="bg1"/>
                </a:solidFill>
              </a:rPr>
              <a:t>Before &amp; After Product name changes</a:t>
            </a:r>
          </a:p>
        </p:txBody>
      </p:sp>
      <p:graphicFrame>
        <p:nvGraphicFramePr>
          <p:cNvPr id="8" name="Table 7">
            <a:extLst>
              <a:ext uri="{FF2B5EF4-FFF2-40B4-BE49-F238E27FC236}">
                <a16:creationId xmlns:a16="http://schemas.microsoft.com/office/drawing/2014/main" id="{D0170072-C150-5A49-D98F-5AC881C79470}"/>
              </a:ext>
            </a:extLst>
          </p:cNvPr>
          <p:cNvGraphicFramePr>
            <a:graphicFrameLocks noGrp="1"/>
          </p:cNvGraphicFramePr>
          <p:nvPr>
            <p:extLst>
              <p:ext uri="{D42A27DB-BD31-4B8C-83A1-F6EECF244321}">
                <p14:modId xmlns:p14="http://schemas.microsoft.com/office/powerpoint/2010/main" val="3282555256"/>
              </p:ext>
            </p:extLst>
          </p:nvPr>
        </p:nvGraphicFramePr>
        <p:xfrm>
          <a:off x="1631949" y="1011447"/>
          <a:ext cx="9540876" cy="5717968"/>
        </p:xfrm>
        <a:graphic>
          <a:graphicData uri="http://schemas.openxmlformats.org/drawingml/2006/table">
            <a:tbl>
              <a:tblPr firstRow="1" bandRow="1">
                <a:tableStyleId>{073A0DAA-6AF3-43AB-8588-CEC1D06C72B9}</a:tableStyleId>
              </a:tblPr>
              <a:tblGrid>
                <a:gridCol w="1119936">
                  <a:extLst>
                    <a:ext uri="{9D8B030D-6E8A-4147-A177-3AD203B41FA5}">
                      <a16:colId xmlns:a16="http://schemas.microsoft.com/office/drawing/2014/main" val="798425116"/>
                    </a:ext>
                  </a:extLst>
                </a:gridCol>
                <a:gridCol w="5240648">
                  <a:extLst>
                    <a:ext uri="{9D8B030D-6E8A-4147-A177-3AD203B41FA5}">
                      <a16:colId xmlns:a16="http://schemas.microsoft.com/office/drawing/2014/main" val="1435100189"/>
                    </a:ext>
                  </a:extLst>
                </a:gridCol>
                <a:gridCol w="3180292">
                  <a:extLst>
                    <a:ext uri="{9D8B030D-6E8A-4147-A177-3AD203B41FA5}">
                      <a16:colId xmlns:a16="http://schemas.microsoft.com/office/drawing/2014/main" val="1933101961"/>
                    </a:ext>
                  </a:extLst>
                </a:gridCol>
              </a:tblGrid>
              <a:tr h="543296">
                <a:tc>
                  <a:txBody>
                    <a:bodyPr/>
                    <a:lstStyle/>
                    <a:p>
                      <a:endParaRPr lang="en-US" dirty="0"/>
                    </a:p>
                  </a:txBody>
                  <a:tcPr/>
                </a:tc>
                <a:tc>
                  <a:txBody>
                    <a:bodyPr/>
                    <a:lstStyle/>
                    <a:p>
                      <a:pPr algn="ctr"/>
                      <a:r>
                        <a:rPr lang="en-US" sz="2400" dirty="0"/>
                        <a:t>Before changes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After changes</a:t>
                      </a:r>
                    </a:p>
                    <a:p>
                      <a:endParaRPr lang="en-US" dirty="0"/>
                    </a:p>
                  </a:txBody>
                  <a:tcPr/>
                </a:tc>
                <a:extLst>
                  <a:ext uri="{0D108BD9-81ED-4DB2-BD59-A6C34878D82A}">
                    <a16:rowId xmlns:a16="http://schemas.microsoft.com/office/drawing/2014/main" val="2294614738"/>
                  </a:ext>
                </a:extLst>
              </a:tr>
              <a:tr h="543296">
                <a:tc>
                  <a:txBody>
                    <a:bodyPr/>
                    <a:lstStyle/>
                    <a:p>
                      <a:pPr algn="ctr"/>
                      <a:r>
                        <a:rPr lang="en-US" dirty="0"/>
                        <a:t>0</a:t>
                      </a:r>
                    </a:p>
                  </a:txBody>
                  <a:tcPr/>
                </a:tc>
                <a:tc>
                  <a:txBody>
                    <a:bodyPr/>
                    <a:lstStyle/>
                    <a:p>
                      <a:pPr algn="ctr"/>
                      <a:r>
                        <a:rPr lang="en-US" sz="1800" b="0" kern="1200" dirty="0" err="1">
                          <a:solidFill>
                            <a:schemeClr val="dk1"/>
                          </a:solidFill>
                          <a:effectLst/>
                        </a:rPr>
                        <a:t>Atún</a:t>
                      </a:r>
                      <a:r>
                        <a:rPr lang="en-US" sz="1800" b="0" kern="1200" dirty="0">
                          <a:solidFill>
                            <a:schemeClr val="dk1"/>
                          </a:solidFill>
                          <a:effectLst/>
                        </a:rPr>
                        <a:t> </a:t>
                      </a:r>
                      <a:r>
                        <a:rPr lang="en-US" sz="1800" b="0" kern="1200" dirty="0" err="1">
                          <a:solidFill>
                            <a:schemeClr val="dk1"/>
                          </a:solidFill>
                          <a:effectLst/>
                        </a:rPr>
                        <a:t>en</a:t>
                      </a:r>
                      <a:r>
                        <a:rPr lang="en-US" sz="1800" b="0" kern="1200" dirty="0">
                          <a:solidFill>
                            <a:schemeClr val="dk1"/>
                          </a:solidFill>
                          <a:effectLst/>
                        </a:rPr>
                        <a:t> </a:t>
                      </a:r>
                      <a:r>
                        <a:rPr lang="en-US" sz="1800" b="0" kern="1200" dirty="0" err="1">
                          <a:solidFill>
                            <a:schemeClr val="dk1"/>
                          </a:solidFill>
                          <a:effectLst/>
                        </a:rPr>
                        <a:t>aceite</a:t>
                      </a:r>
                      <a:endParaRPr lang="en-US" dirty="0"/>
                    </a:p>
                  </a:txBody>
                  <a:tcPr/>
                </a:tc>
                <a:tc>
                  <a:txBody>
                    <a:bodyPr/>
                    <a:lstStyle/>
                    <a:p>
                      <a:pPr algn="ctr"/>
                      <a:r>
                        <a:rPr lang="en-US" sz="1800" b="0" kern="1200" dirty="0" err="1">
                          <a:solidFill>
                            <a:schemeClr val="dk1"/>
                          </a:solidFill>
                          <a:effectLst/>
                        </a:rPr>
                        <a:t>atun</a:t>
                      </a:r>
                      <a:r>
                        <a:rPr lang="en-US" sz="1800" b="0" kern="1200" dirty="0">
                          <a:solidFill>
                            <a:schemeClr val="dk1"/>
                          </a:solidFill>
                          <a:effectLst/>
                        </a:rPr>
                        <a:t> </a:t>
                      </a:r>
                      <a:r>
                        <a:rPr lang="en-US" sz="1800" b="0" kern="1200" dirty="0" err="1">
                          <a:solidFill>
                            <a:schemeClr val="dk1"/>
                          </a:solidFill>
                          <a:effectLst/>
                        </a:rPr>
                        <a:t>aceite</a:t>
                      </a:r>
                      <a:endParaRPr lang="en-US" dirty="0"/>
                    </a:p>
                  </a:txBody>
                  <a:tcPr/>
                </a:tc>
                <a:extLst>
                  <a:ext uri="{0D108BD9-81ED-4DB2-BD59-A6C34878D82A}">
                    <a16:rowId xmlns:a16="http://schemas.microsoft.com/office/drawing/2014/main" val="2937684556"/>
                  </a:ext>
                </a:extLst>
              </a:tr>
              <a:tr h="543296">
                <a:tc>
                  <a:txBody>
                    <a:bodyPr/>
                    <a:lstStyle/>
                    <a:p>
                      <a:pPr algn="ctr"/>
                      <a:r>
                        <a:rPr lang="en-US" dirty="0"/>
                        <a:t>1</a:t>
                      </a:r>
                    </a:p>
                  </a:txBody>
                  <a:tcPr/>
                </a:tc>
                <a:tc>
                  <a:txBody>
                    <a:bodyPr/>
                    <a:lstStyle/>
                    <a:p>
                      <a:pPr algn="ctr"/>
                      <a:r>
                        <a:rPr lang="en-US" dirty="0" err="1">
                          <a:effectLst/>
                        </a:rPr>
                        <a:t>Atún</a:t>
                      </a:r>
                      <a:r>
                        <a:rPr lang="en-US" dirty="0">
                          <a:effectLst/>
                        </a:rPr>
                        <a:t> </a:t>
                      </a:r>
                      <a:r>
                        <a:rPr lang="en-US" dirty="0" err="1">
                          <a:effectLst/>
                        </a:rPr>
                        <a:t>en</a:t>
                      </a:r>
                      <a:r>
                        <a:rPr lang="en-US" dirty="0">
                          <a:effectLst/>
                        </a:rPr>
                        <a:t> </a:t>
                      </a:r>
                      <a:r>
                        <a:rPr lang="en-US" dirty="0" err="1">
                          <a:effectLst/>
                        </a:rPr>
                        <a:t>aceite</a:t>
                      </a:r>
                      <a:r>
                        <a:rPr lang="en-US" dirty="0">
                          <a:effectLst/>
                        </a:rPr>
                        <a:t> de girasol</a:t>
                      </a:r>
                    </a:p>
                  </a:txBody>
                  <a:tcPr marL="76200" marR="76200" marT="38100" marB="38100" anchor="ctr"/>
                </a:tc>
                <a:tc>
                  <a:txBody>
                    <a:bodyPr/>
                    <a:lstStyle/>
                    <a:p>
                      <a:pPr algn="ctr"/>
                      <a:r>
                        <a:rPr lang="en-US" sz="1800" b="0" kern="1200" dirty="0" err="1">
                          <a:solidFill>
                            <a:schemeClr val="dk1"/>
                          </a:solidFill>
                          <a:effectLst/>
                        </a:rPr>
                        <a:t>atun</a:t>
                      </a:r>
                      <a:r>
                        <a:rPr lang="en-US" sz="1800" b="0" kern="1200" dirty="0">
                          <a:solidFill>
                            <a:schemeClr val="dk1"/>
                          </a:solidFill>
                          <a:effectLst/>
                        </a:rPr>
                        <a:t> </a:t>
                      </a:r>
                      <a:r>
                        <a:rPr lang="en-US" sz="1800" b="0" kern="1200" dirty="0" err="1">
                          <a:solidFill>
                            <a:schemeClr val="dk1"/>
                          </a:solidFill>
                          <a:effectLst/>
                        </a:rPr>
                        <a:t>aceite</a:t>
                      </a:r>
                      <a:r>
                        <a:rPr lang="en-US" sz="1800" b="0" kern="1200" dirty="0">
                          <a:solidFill>
                            <a:schemeClr val="dk1"/>
                          </a:solidFill>
                          <a:effectLst/>
                        </a:rPr>
                        <a:t> girasol</a:t>
                      </a:r>
                      <a:endParaRPr lang="en-US" dirty="0"/>
                    </a:p>
                  </a:txBody>
                  <a:tcPr/>
                </a:tc>
                <a:extLst>
                  <a:ext uri="{0D108BD9-81ED-4DB2-BD59-A6C34878D82A}">
                    <a16:rowId xmlns:a16="http://schemas.microsoft.com/office/drawing/2014/main" val="1120482072"/>
                  </a:ext>
                </a:extLst>
              </a:tr>
              <a:tr h="543296">
                <a:tc>
                  <a:txBody>
                    <a:bodyPr/>
                    <a:lstStyle/>
                    <a:p>
                      <a:pPr algn="ctr"/>
                      <a:r>
                        <a:rPr lang="en-US" dirty="0"/>
                        <a:t>2</a:t>
                      </a:r>
                    </a:p>
                  </a:txBody>
                  <a:tcPr/>
                </a:tc>
                <a:tc>
                  <a:txBody>
                    <a:bodyPr/>
                    <a:lstStyle/>
                    <a:p>
                      <a:pPr algn="ctr"/>
                      <a:r>
                        <a:rPr lang="en-US" sz="1800" b="0" kern="1200" dirty="0" err="1">
                          <a:solidFill>
                            <a:schemeClr val="dk1"/>
                          </a:solidFill>
                          <a:effectLst/>
                        </a:rPr>
                        <a:t>Atún</a:t>
                      </a:r>
                      <a:r>
                        <a:rPr lang="en-US" sz="1800" b="0" kern="1200" dirty="0">
                          <a:solidFill>
                            <a:schemeClr val="dk1"/>
                          </a:solidFill>
                          <a:effectLst/>
                        </a:rPr>
                        <a:t> Van Camps </a:t>
                      </a:r>
                      <a:r>
                        <a:rPr lang="en-US" sz="1800" b="0" kern="1200" dirty="0" err="1">
                          <a:solidFill>
                            <a:schemeClr val="dk1"/>
                          </a:solidFill>
                          <a:effectLst/>
                        </a:rPr>
                        <a:t>Lomitos</a:t>
                      </a:r>
                      <a:r>
                        <a:rPr lang="en-US" sz="1800" b="0" kern="1200" dirty="0">
                          <a:solidFill>
                            <a:schemeClr val="dk1"/>
                          </a:solidFill>
                          <a:effectLst/>
                        </a:rPr>
                        <a:t> En</a:t>
                      </a:r>
                      <a:endParaRPr lang="en-US" dirty="0"/>
                    </a:p>
                  </a:txBody>
                  <a:tcPr/>
                </a:tc>
                <a:tc>
                  <a:txBody>
                    <a:bodyPr/>
                    <a:lstStyle/>
                    <a:p>
                      <a:pPr algn="ctr"/>
                      <a:r>
                        <a:rPr lang="en-US" dirty="0" err="1"/>
                        <a:t>a</a:t>
                      </a:r>
                      <a:r>
                        <a:rPr lang="en-US" dirty="0" err="1">
                          <a:effectLst/>
                        </a:rPr>
                        <a:t>tun</a:t>
                      </a:r>
                      <a:r>
                        <a:rPr lang="en-US" dirty="0">
                          <a:effectLst/>
                        </a:rPr>
                        <a:t> van camps </a:t>
                      </a:r>
                      <a:r>
                        <a:rPr lang="en-US" dirty="0" err="1">
                          <a:effectLst/>
                        </a:rPr>
                        <a:t>lomitos</a:t>
                      </a:r>
                      <a:endParaRPr lang="en-US" dirty="0"/>
                    </a:p>
                  </a:txBody>
                  <a:tcPr/>
                </a:tc>
                <a:extLst>
                  <a:ext uri="{0D108BD9-81ED-4DB2-BD59-A6C34878D82A}">
                    <a16:rowId xmlns:a16="http://schemas.microsoft.com/office/drawing/2014/main" val="4014539891"/>
                  </a:ext>
                </a:extLst>
              </a:tr>
              <a:tr h="543296">
                <a:tc>
                  <a:txBody>
                    <a:bodyPr/>
                    <a:lstStyle/>
                    <a:p>
                      <a:pPr algn="ctr"/>
                      <a:r>
                        <a:rPr lang="en-US" dirty="0"/>
                        <a:t>3</a:t>
                      </a:r>
                    </a:p>
                  </a:txBody>
                  <a:tcPr/>
                </a:tc>
                <a:tc>
                  <a:txBody>
                    <a:bodyPr/>
                    <a:lstStyle/>
                    <a:p>
                      <a:pPr algn="ctr"/>
                      <a:r>
                        <a:rPr lang="en-US" sz="1800" b="0" kern="1200" dirty="0" err="1">
                          <a:solidFill>
                            <a:schemeClr val="dk1"/>
                          </a:solidFill>
                          <a:effectLst/>
                        </a:rPr>
                        <a:t>Pescado</a:t>
                      </a:r>
                      <a:r>
                        <a:rPr lang="en-US" sz="1800" b="0" kern="1200" dirty="0">
                          <a:solidFill>
                            <a:schemeClr val="dk1"/>
                          </a:solidFill>
                          <a:effectLst/>
                        </a:rPr>
                        <a:t> </a:t>
                      </a:r>
                      <a:r>
                        <a:rPr lang="en-US" sz="1800" b="0" kern="1200" dirty="0" err="1">
                          <a:solidFill>
                            <a:schemeClr val="dk1"/>
                          </a:solidFill>
                          <a:effectLst/>
                        </a:rPr>
                        <a:t>tomate</a:t>
                      </a:r>
                      <a:endParaRPr lang="en-US" dirty="0"/>
                    </a:p>
                  </a:txBody>
                  <a:tcPr/>
                </a:tc>
                <a:tc>
                  <a:txBody>
                    <a:bodyPr/>
                    <a:lstStyle/>
                    <a:p>
                      <a:pPr algn="ctr"/>
                      <a:r>
                        <a:rPr lang="en-US" sz="1800" b="0" kern="1200" dirty="0" err="1">
                          <a:solidFill>
                            <a:schemeClr val="dk1"/>
                          </a:solidFill>
                          <a:effectLst/>
                        </a:rPr>
                        <a:t>pescado</a:t>
                      </a:r>
                      <a:r>
                        <a:rPr lang="en-US" sz="1800" b="0" kern="1200" dirty="0">
                          <a:solidFill>
                            <a:schemeClr val="dk1"/>
                          </a:solidFill>
                          <a:effectLst/>
                        </a:rPr>
                        <a:t> </a:t>
                      </a:r>
                      <a:r>
                        <a:rPr lang="en-US" sz="1800" b="0" kern="1200" dirty="0" err="1">
                          <a:solidFill>
                            <a:schemeClr val="dk1"/>
                          </a:solidFill>
                          <a:effectLst/>
                        </a:rPr>
                        <a:t>tomate</a:t>
                      </a:r>
                      <a:endParaRPr lang="en-US" dirty="0"/>
                    </a:p>
                  </a:txBody>
                  <a:tcPr/>
                </a:tc>
                <a:extLst>
                  <a:ext uri="{0D108BD9-81ED-4DB2-BD59-A6C34878D82A}">
                    <a16:rowId xmlns:a16="http://schemas.microsoft.com/office/drawing/2014/main" val="3969874285"/>
                  </a:ext>
                </a:extLst>
              </a:tr>
              <a:tr h="543296">
                <a:tc>
                  <a:txBody>
                    <a:bodyPr/>
                    <a:lstStyle/>
                    <a:p>
                      <a:pPr algn="ctr"/>
                      <a:r>
                        <a:rPr lang="en-US" dirty="0"/>
                        <a:t>4</a:t>
                      </a:r>
                    </a:p>
                  </a:txBody>
                  <a:tcPr/>
                </a:tc>
                <a:tc>
                  <a:txBody>
                    <a:bodyPr/>
                    <a:lstStyle/>
                    <a:p>
                      <a:pPr algn="ctr"/>
                      <a:r>
                        <a:rPr lang="en-US" sz="1800" b="0" kern="1200" dirty="0">
                          <a:solidFill>
                            <a:schemeClr val="dk1"/>
                          </a:solidFill>
                          <a:effectLst/>
                        </a:rPr>
                        <a:t>Atun </a:t>
                      </a:r>
                      <a:r>
                        <a:rPr lang="en-US" sz="1800" b="0" kern="1200" dirty="0" err="1">
                          <a:solidFill>
                            <a:schemeClr val="dk1"/>
                          </a:solidFill>
                          <a:effectLst/>
                        </a:rPr>
                        <a:t>Lomitos</a:t>
                      </a:r>
                      <a:r>
                        <a:rPr lang="en-US" sz="1800" b="0" kern="1200" dirty="0">
                          <a:solidFill>
                            <a:schemeClr val="dk1"/>
                          </a:solidFill>
                          <a:effectLst/>
                        </a:rPr>
                        <a:t> En </a:t>
                      </a:r>
                      <a:r>
                        <a:rPr lang="en-US" sz="1800" b="0" kern="1200" dirty="0" err="1">
                          <a:solidFill>
                            <a:schemeClr val="dk1"/>
                          </a:solidFill>
                          <a:effectLst/>
                        </a:rPr>
                        <a:t>Aceite</a:t>
                      </a:r>
                      <a:r>
                        <a:rPr lang="en-US" sz="1800" b="0" kern="1200" dirty="0">
                          <a:solidFill>
                            <a:schemeClr val="dk1"/>
                          </a:solidFill>
                          <a:effectLst/>
                        </a:rPr>
                        <a:t> X 140 gr</a:t>
                      </a:r>
                      <a:endParaRPr lang="en-US" dirty="0"/>
                    </a:p>
                  </a:txBody>
                  <a:tcPr/>
                </a:tc>
                <a:tc>
                  <a:txBody>
                    <a:bodyPr/>
                    <a:lstStyle/>
                    <a:p>
                      <a:pPr algn="ctr"/>
                      <a:r>
                        <a:rPr lang="en-US" sz="1800" b="0" kern="1200" dirty="0" err="1">
                          <a:solidFill>
                            <a:schemeClr val="dk1"/>
                          </a:solidFill>
                          <a:effectLst/>
                        </a:rPr>
                        <a:t>atun</a:t>
                      </a:r>
                      <a:r>
                        <a:rPr lang="en-US" sz="1800" b="0" kern="1200" dirty="0">
                          <a:solidFill>
                            <a:schemeClr val="dk1"/>
                          </a:solidFill>
                          <a:effectLst/>
                        </a:rPr>
                        <a:t> </a:t>
                      </a:r>
                      <a:r>
                        <a:rPr lang="en-US" sz="1800" b="0" kern="1200" dirty="0" err="1">
                          <a:solidFill>
                            <a:schemeClr val="dk1"/>
                          </a:solidFill>
                          <a:effectLst/>
                        </a:rPr>
                        <a:t>lomitos</a:t>
                      </a:r>
                      <a:r>
                        <a:rPr lang="en-US" sz="1800" b="0" kern="1200" dirty="0">
                          <a:solidFill>
                            <a:schemeClr val="dk1"/>
                          </a:solidFill>
                          <a:effectLst/>
                        </a:rPr>
                        <a:t> </a:t>
                      </a:r>
                      <a:r>
                        <a:rPr lang="en-US" sz="1800" b="0" kern="1200" dirty="0" err="1">
                          <a:solidFill>
                            <a:schemeClr val="dk1"/>
                          </a:solidFill>
                          <a:effectLst/>
                        </a:rPr>
                        <a:t>aceite</a:t>
                      </a:r>
                      <a:r>
                        <a:rPr lang="en-US" sz="1800" b="0" kern="1200" dirty="0">
                          <a:solidFill>
                            <a:schemeClr val="dk1"/>
                          </a:solidFill>
                          <a:effectLst/>
                        </a:rPr>
                        <a:t> x 140 g</a:t>
                      </a:r>
                      <a:endParaRPr lang="en-US" dirty="0"/>
                    </a:p>
                  </a:txBody>
                  <a:tcPr/>
                </a:tc>
                <a:extLst>
                  <a:ext uri="{0D108BD9-81ED-4DB2-BD59-A6C34878D82A}">
                    <a16:rowId xmlns:a16="http://schemas.microsoft.com/office/drawing/2014/main" val="82134831"/>
                  </a:ext>
                </a:extLst>
              </a:tr>
              <a:tr h="543296">
                <a:tc>
                  <a:txBody>
                    <a:bodyPr/>
                    <a:lstStyle/>
                    <a:p>
                      <a:pPr algn="ctr"/>
                      <a:r>
                        <a:rPr lang="en-US" dirty="0"/>
                        <a:t>5</a:t>
                      </a:r>
                    </a:p>
                  </a:txBody>
                  <a:tcPr/>
                </a:tc>
                <a:tc>
                  <a:txBody>
                    <a:bodyPr/>
                    <a:lstStyle/>
                    <a:p>
                      <a:pPr algn="ctr"/>
                      <a:r>
                        <a:rPr lang="en-US" sz="1800" b="0" kern="1200" dirty="0" err="1">
                          <a:solidFill>
                            <a:schemeClr val="dk1"/>
                          </a:solidFill>
                          <a:effectLst/>
                        </a:rPr>
                        <a:t>Atún</a:t>
                      </a:r>
                      <a:r>
                        <a:rPr lang="en-US" sz="1800" b="0" kern="1200" dirty="0">
                          <a:solidFill>
                            <a:schemeClr val="dk1"/>
                          </a:solidFill>
                          <a:effectLst/>
                        </a:rPr>
                        <a:t> Van Camps </a:t>
                      </a:r>
                      <a:r>
                        <a:rPr lang="en-US" sz="1800" b="0" kern="1200" dirty="0" err="1">
                          <a:solidFill>
                            <a:schemeClr val="dk1"/>
                          </a:solidFill>
                          <a:effectLst/>
                        </a:rPr>
                        <a:t>Maíz</a:t>
                      </a:r>
                      <a:r>
                        <a:rPr lang="en-US" sz="1800" b="0" kern="1200" dirty="0">
                          <a:solidFill>
                            <a:schemeClr val="dk1"/>
                          </a:solidFill>
                          <a:effectLst/>
                        </a:rPr>
                        <a:t> &amp;</a:t>
                      </a:r>
                      <a:endParaRPr lang="en-US" dirty="0"/>
                    </a:p>
                  </a:txBody>
                  <a:tcPr/>
                </a:tc>
                <a:tc>
                  <a:txBody>
                    <a:bodyPr/>
                    <a:lstStyle/>
                    <a:p>
                      <a:pPr algn="ctr"/>
                      <a:r>
                        <a:rPr lang="en-US" dirty="0" err="1"/>
                        <a:t>a</a:t>
                      </a:r>
                      <a:r>
                        <a:rPr lang="en-US" sz="1800" b="0" kern="1200" dirty="0" err="1">
                          <a:solidFill>
                            <a:schemeClr val="dk1"/>
                          </a:solidFill>
                          <a:effectLst/>
                        </a:rPr>
                        <a:t>tun</a:t>
                      </a:r>
                      <a:r>
                        <a:rPr lang="en-US" sz="1800" b="0" kern="1200" dirty="0">
                          <a:solidFill>
                            <a:schemeClr val="dk1"/>
                          </a:solidFill>
                          <a:effectLst/>
                        </a:rPr>
                        <a:t> van camps </a:t>
                      </a:r>
                      <a:r>
                        <a:rPr lang="en-US" sz="1800" b="0" kern="1200" dirty="0" err="1">
                          <a:solidFill>
                            <a:schemeClr val="dk1"/>
                          </a:solidFill>
                          <a:effectLst/>
                        </a:rPr>
                        <a:t>maiz</a:t>
                      </a:r>
                      <a:endParaRPr lang="en-US" dirty="0"/>
                    </a:p>
                  </a:txBody>
                  <a:tcPr/>
                </a:tc>
                <a:extLst>
                  <a:ext uri="{0D108BD9-81ED-4DB2-BD59-A6C34878D82A}">
                    <a16:rowId xmlns:a16="http://schemas.microsoft.com/office/drawing/2014/main" val="66173085"/>
                  </a:ext>
                </a:extLst>
              </a:tr>
              <a:tr h="543296">
                <a:tc>
                  <a:txBody>
                    <a:bodyPr/>
                    <a:lstStyle/>
                    <a:p>
                      <a:pPr algn="ctr"/>
                      <a:r>
                        <a:rPr lang="en-US" dirty="0"/>
                        <a:t>6</a:t>
                      </a:r>
                    </a:p>
                  </a:txBody>
                  <a:tcPr/>
                </a:tc>
                <a:tc>
                  <a:txBody>
                    <a:bodyPr/>
                    <a:lstStyle/>
                    <a:p>
                      <a:pPr algn="ctr"/>
                      <a:r>
                        <a:rPr lang="en-US" sz="1800" b="0" kern="1200" dirty="0" err="1">
                          <a:solidFill>
                            <a:schemeClr val="dk1"/>
                          </a:solidFill>
                          <a:effectLst/>
                        </a:rPr>
                        <a:t>Atún</a:t>
                      </a:r>
                      <a:r>
                        <a:rPr lang="en-US" sz="1800" b="0" kern="1200" dirty="0">
                          <a:solidFill>
                            <a:schemeClr val="dk1"/>
                          </a:solidFill>
                          <a:effectLst/>
                        </a:rPr>
                        <a:t> Van Camps </a:t>
                      </a:r>
                      <a:r>
                        <a:rPr lang="en-US" sz="1800" b="0" kern="1200" dirty="0" err="1">
                          <a:solidFill>
                            <a:schemeClr val="dk1"/>
                          </a:solidFill>
                          <a:effectLst/>
                        </a:rPr>
                        <a:t>Lomitos</a:t>
                      </a:r>
                      <a:r>
                        <a:rPr lang="en-US" sz="1800" b="0" kern="1200" dirty="0">
                          <a:solidFill>
                            <a:schemeClr val="dk1"/>
                          </a:solidFill>
                          <a:effectLst/>
                        </a:rPr>
                        <a:t> En</a:t>
                      </a:r>
                      <a:endParaRPr lang="en-US" dirty="0"/>
                    </a:p>
                  </a:txBody>
                  <a:tcPr/>
                </a:tc>
                <a:tc>
                  <a:txBody>
                    <a:bodyPr/>
                    <a:lstStyle/>
                    <a:p>
                      <a:pPr algn="ctr"/>
                      <a:r>
                        <a:rPr lang="en-US" sz="1800" b="0" kern="1200" dirty="0" err="1">
                          <a:solidFill>
                            <a:schemeClr val="dk1"/>
                          </a:solidFill>
                          <a:effectLst/>
                        </a:rPr>
                        <a:t>atun</a:t>
                      </a:r>
                      <a:r>
                        <a:rPr lang="en-US" sz="1800" b="0" kern="1200" dirty="0">
                          <a:solidFill>
                            <a:schemeClr val="dk1"/>
                          </a:solidFill>
                          <a:effectLst/>
                        </a:rPr>
                        <a:t> van camps </a:t>
                      </a:r>
                      <a:r>
                        <a:rPr lang="en-US" sz="1800" b="0" kern="1200" dirty="0" err="1">
                          <a:solidFill>
                            <a:schemeClr val="dk1"/>
                          </a:solidFill>
                          <a:effectLst/>
                        </a:rPr>
                        <a:t>lomitos</a:t>
                      </a:r>
                      <a:endParaRPr lang="en-US" dirty="0"/>
                    </a:p>
                  </a:txBody>
                  <a:tcPr/>
                </a:tc>
                <a:extLst>
                  <a:ext uri="{0D108BD9-81ED-4DB2-BD59-A6C34878D82A}">
                    <a16:rowId xmlns:a16="http://schemas.microsoft.com/office/drawing/2014/main" val="2980587440"/>
                  </a:ext>
                </a:extLst>
              </a:tr>
              <a:tr h="543296">
                <a:tc>
                  <a:txBody>
                    <a:bodyPr/>
                    <a:lstStyle/>
                    <a:p>
                      <a:pPr algn="ctr"/>
                      <a:r>
                        <a:rPr lang="en-US" dirty="0"/>
                        <a:t>7</a:t>
                      </a:r>
                    </a:p>
                  </a:txBody>
                  <a:tcPr/>
                </a:tc>
                <a:tc>
                  <a:txBody>
                    <a:bodyPr/>
                    <a:lstStyle/>
                    <a:p>
                      <a:pPr algn="ctr"/>
                      <a:r>
                        <a:rPr lang="en-US" sz="1800" b="0" kern="1200" dirty="0">
                          <a:solidFill>
                            <a:schemeClr val="dk1"/>
                          </a:solidFill>
                          <a:effectLst/>
                        </a:rPr>
                        <a:t>Salmon En </a:t>
                      </a:r>
                      <a:r>
                        <a:rPr lang="en-US" sz="1800" b="0" kern="1200" dirty="0" err="1">
                          <a:solidFill>
                            <a:schemeClr val="dk1"/>
                          </a:solidFill>
                          <a:effectLst/>
                        </a:rPr>
                        <a:t>Trozos</a:t>
                      </a:r>
                      <a:r>
                        <a:rPr lang="en-US" sz="1800" b="0" kern="1200" dirty="0">
                          <a:solidFill>
                            <a:schemeClr val="dk1"/>
                          </a:solidFill>
                          <a:effectLst/>
                        </a:rPr>
                        <a:t> Al Natural</a:t>
                      </a:r>
                      <a:endParaRPr lang="en-US" dirty="0"/>
                    </a:p>
                  </a:txBody>
                  <a:tcPr/>
                </a:tc>
                <a:tc>
                  <a:txBody>
                    <a:bodyPr/>
                    <a:lstStyle/>
                    <a:p>
                      <a:pPr algn="ctr"/>
                      <a:r>
                        <a:rPr lang="en-US" sz="1800" b="0" kern="1200" dirty="0">
                          <a:solidFill>
                            <a:schemeClr val="dk1"/>
                          </a:solidFill>
                          <a:effectLst/>
                        </a:rPr>
                        <a:t>salmon </a:t>
                      </a:r>
                      <a:r>
                        <a:rPr lang="en-US" sz="1800" b="0" kern="1200" dirty="0" err="1">
                          <a:solidFill>
                            <a:schemeClr val="dk1"/>
                          </a:solidFill>
                          <a:effectLst/>
                        </a:rPr>
                        <a:t>trozos</a:t>
                      </a:r>
                      <a:r>
                        <a:rPr lang="en-US" sz="1800" b="0" kern="1200" dirty="0">
                          <a:solidFill>
                            <a:schemeClr val="dk1"/>
                          </a:solidFill>
                          <a:effectLst/>
                        </a:rPr>
                        <a:t> natural</a:t>
                      </a:r>
                      <a:endParaRPr lang="en-US" dirty="0"/>
                    </a:p>
                  </a:txBody>
                  <a:tcPr/>
                </a:tc>
                <a:extLst>
                  <a:ext uri="{0D108BD9-81ED-4DB2-BD59-A6C34878D82A}">
                    <a16:rowId xmlns:a16="http://schemas.microsoft.com/office/drawing/2014/main" val="862675595"/>
                  </a:ext>
                </a:extLst>
              </a:tr>
              <a:tr h="543296">
                <a:tc>
                  <a:txBody>
                    <a:bodyPr/>
                    <a:lstStyle/>
                    <a:p>
                      <a:pPr algn="ctr"/>
                      <a:r>
                        <a:rPr lang="en-US" dirty="0"/>
                        <a:t>8</a:t>
                      </a:r>
                    </a:p>
                  </a:txBody>
                  <a:tcPr/>
                </a:tc>
                <a:tc>
                  <a:txBody>
                    <a:bodyPr/>
                    <a:lstStyle/>
                    <a:p>
                      <a:pPr algn="ctr"/>
                      <a:r>
                        <a:rPr lang="en-US" sz="1800" b="0" kern="1200" dirty="0">
                          <a:solidFill>
                            <a:schemeClr val="dk1"/>
                          </a:solidFill>
                          <a:effectLst/>
                        </a:rPr>
                        <a:t>Pack x12 cerveza </a:t>
                      </a:r>
                      <a:r>
                        <a:rPr lang="en-US" sz="1800" b="0" kern="1200" dirty="0" err="1">
                          <a:solidFill>
                            <a:schemeClr val="dk1"/>
                          </a:solidFill>
                          <a:effectLst/>
                        </a:rPr>
                        <a:t>andina</a:t>
                      </a:r>
                      <a:r>
                        <a:rPr lang="en-US" sz="1800" b="0" kern="1200" dirty="0">
                          <a:solidFill>
                            <a:schemeClr val="dk1"/>
                          </a:solidFill>
                          <a:effectLst/>
                        </a:rPr>
                        <a:t> light </a:t>
                      </a:r>
                      <a:r>
                        <a:rPr lang="en-US" sz="1800" b="0" kern="1200" dirty="0" err="1">
                          <a:solidFill>
                            <a:schemeClr val="dk1"/>
                          </a:solidFill>
                          <a:effectLst/>
                        </a:rPr>
                        <a:t>lata</a:t>
                      </a:r>
                      <a:r>
                        <a:rPr lang="en-US" sz="1800" b="0" kern="1200" dirty="0">
                          <a:solidFill>
                            <a:schemeClr val="dk1"/>
                          </a:solidFill>
                          <a:effectLst/>
                        </a:rPr>
                        <a:t> 330m</a:t>
                      </a:r>
                      <a:endParaRPr lang="en-US" dirty="0"/>
                    </a:p>
                  </a:txBody>
                  <a:tcPr/>
                </a:tc>
                <a:tc>
                  <a:txBody>
                    <a:bodyPr/>
                    <a:lstStyle/>
                    <a:p>
                      <a:pPr algn="ctr"/>
                      <a:r>
                        <a:rPr lang="en-US" sz="1800" b="0" kern="1200" dirty="0">
                          <a:solidFill>
                            <a:schemeClr val="dk1"/>
                          </a:solidFill>
                          <a:effectLst/>
                        </a:rPr>
                        <a:t>pack x12 cerveza </a:t>
                      </a:r>
                      <a:r>
                        <a:rPr lang="en-US" sz="1800" b="0" kern="1200" dirty="0" err="1">
                          <a:solidFill>
                            <a:schemeClr val="dk1"/>
                          </a:solidFill>
                          <a:effectLst/>
                        </a:rPr>
                        <a:t>andina</a:t>
                      </a:r>
                      <a:r>
                        <a:rPr lang="en-US" sz="1800" b="0" kern="1200" dirty="0">
                          <a:solidFill>
                            <a:schemeClr val="dk1"/>
                          </a:solidFill>
                          <a:effectLst/>
                        </a:rPr>
                        <a:t> light </a:t>
                      </a:r>
                      <a:r>
                        <a:rPr lang="en-US" sz="1800" b="0" kern="1200" dirty="0" err="1">
                          <a:solidFill>
                            <a:schemeClr val="dk1"/>
                          </a:solidFill>
                          <a:effectLst/>
                        </a:rPr>
                        <a:t>lata</a:t>
                      </a:r>
                      <a:r>
                        <a:rPr lang="en-US" sz="1800" b="0" kern="1200" dirty="0">
                          <a:solidFill>
                            <a:schemeClr val="dk1"/>
                          </a:solidFill>
                          <a:effectLst/>
                        </a:rPr>
                        <a:t> 330ml</a:t>
                      </a:r>
                      <a:endParaRPr lang="en-US" dirty="0"/>
                    </a:p>
                  </a:txBody>
                  <a:tcPr/>
                </a:tc>
                <a:extLst>
                  <a:ext uri="{0D108BD9-81ED-4DB2-BD59-A6C34878D82A}">
                    <a16:rowId xmlns:a16="http://schemas.microsoft.com/office/drawing/2014/main" val="2251330817"/>
                  </a:ext>
                </a:extLst>
              </a:tr>
            </a:tbl>
          </a:graphicData>
        </a:graphic>
      </p:graphicFrame>
    </p:spTree>
    <p:extLst>
      <p:ext uri="{BB962C8B-B14F-4D97-AF65-F5344CB8AC3E}">
        <p14:creationId xmlns:p14="http://schemas.microsoft.com/office/powerpoint/2010/main" val="111574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C37DE1E-59F0-2FEC-DB08-6C54BBFEBC4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E57B115-4C61-DCB2-83C8-B746241EC38E}"/>
              </a:ext>
            </a:extLst>
          </p:cNvPr>
          <p:cNvSpPr>
            <a:spLocks noGrp="1"/>
          </p:cNvSpPr>
          <p:nvPr>
            <p:ph type="title"/>
          </p:nvPr>
        </p:nvSpPr>
        <p:spPr>
          <a:xfrm>
            <a:off x="900120" y="230590"/>
            <a:ext cx="9015288" cy="553179"/>
          </a:xfrm>
        </p:spPr>
        <p:txBody>
          <a:bodyPr>
            <a:normAutofit fontScale="90000"/>
          </a:bodyPr>
          <a:lstStyle/>
          <a:p>
            <a:pPr algn="ctr"/>
            <a:r>
              <a:rPr lang="en-US" b="1" dirty="0">
                <a:solidFill>
                  <a:schemeClr val="bg1"/>
                </a:solidFill>
              </a:rPr>
              <a:t>Fixing the Catalog</a:t>
            </a:r>
          </a:p>
        </p:txBody>
      </p:sp>
      <p:sp>
        <p:nvSpPr>
          <p:cNvPr id="3" name="Content Placeholder 2">
            <a:extLst>
              <a:ext uri="{FF2B5EF4-FFF2-40B4-BE49-F238E27FC236}">
                <a16:creationId xmlns:a16="http://schemas.microsoft.com/office/drawing/2014/main" id="{5340EA44-787B-74EB-DB6A-F1468D65B1EE}"/>
              </a:ext>
            </a:extLst>
          </p:cNvPr>
          <p:cNvSpPr>
            <a:spLocks noGrp="1"/>
          </p:cNvSpPr>
          <p:nvPr>
            <p:ph idx="1"/>
          </p:nvPr>
        </p:nvSpPr>
        <p:spPr>
          <a:xfrm>
            <a:off x="455811" y="956276"/>
            <a:ext cx="11280378" cy="743933"/>
          </a:xfrm>
        </p:spPr>
        <p:txBody>
          <a:bodyPr>
            <a:noAutofit/>
          </a:bodyPr>
          <a:lstStyle/>
          <a:p>
            <a:r>
              <a:rPr lang="en-US" sz="2000" b="1" i="1" dirty="0">
                <a:solidFill>
                  <a:schemeClr val="bg1"/>
                </a:solidFill>
              </a:rPr>
              <a:t>Question: </a:t>
            </a:r>
            <a:r>
              <a:rPr lang="en-US" sz="2000" dirty="0">
                <a:solidFill>
                  <a:schemeClr val="bg1"/>
                </a:solidFill>
              </a:rPr>
              <a:t>How would you fix this catalog and decrease the number of duplicated products you found? </a:t>
            </a:r>
          </a:p>
          <a:p>
            <a:pPr marL="0" indent="0">
              <a:buNone/>
            </a:pPr>
            <a:endParaRPr lang="en-US" sz="2000" dirty="0">
              <a:solidFill>
                <a:schemeClr val="bg1"/>
              </a:solidFill>
            </a:endParaRPr>
          </a:p>
        </p:txBody>
      </p:sp>
      <p:sp>
        <p:nvSpPr>
          <p:cNvPr id="7" name="Alternate Process 6">
            <a:extLst>
              <a:ext uri="{FF2B5EF4-FFF2-40B4-BE49-F238E27FC236}">
                <a16:creationId xmlns:a16="http://schemas.microsoft.com/office/drawing/2014/main" id="{51E0AB27-B822-A715-3E6F-74BD8124DF85}"/>
              </a:ext>
            </a:extLst>
          </p:cNvPr>
          <p:cNvSpPr/>
          <p:nvPr/>
        </p:nvSpPr>
        <p:spPr>
          <a:xfrm>
            <a:off x="202616" y="1715548"/>
            <a:ext cx="3190875" cy="2895600"/>
          </a:xfrm>
          <a:prstGeom prst="flowChartAlternate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lternate Process 7">
            <a:extLst>
              <a:ext uri="{FF2B5EF4-FFF2-40B4-BE49-F238E27FC236}">
                <a16:creationId xmlns:a16="http://schemas.microsoft.com/office/drawing/2014/main" id="{1E551A70-9EF3-4BB2-F34D-DD846FC9EA78}"/>
              </a:ext>
            </a:extLst>
          </p:cNvPr>
          <p:cNvSpPr/>
          <p:nvPr/>
        </p:nvSpPr>
        <p:spPr>
          <a:xfrm>
            <a:off x="4438643" y="1715547"/>
            <a:ext cx="3155369" cy="2895599"/>
          </a:xfrm>
          <a:prstGeom prst="flowChartAlternate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lternate Process 8">
            <a:extLst>
              <a:ext uri="{FF2B5EF4-FFF2-40B4-BE49-F238E27FC236}">
                <a16:creationId xmlns:a16="http://schemas.microsoft.com/office/drawing/2014/main" id="{ACCA972B-6333-B0CE-76FA-831A83BECD59}"/>
              </a:ext>
            </a:extLst>
          </p:cNvPr>
          <p:cNvSpPr/>
          <p:nvPr/>
        </p:nvSpPr>
        <p:spPr>
          <a:xfrm>
            <a:off x="8674670" y="1715547"/>
            <a:ext cx="3190875" cy="2895599"/>
          </a:xfrm>
          <a:prstGeom prst="flowChartAlternate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lternate Process 11">
            <a:extLst>
              <a:ext uri="{FF2B5EF4-FFF2-40B4-BE49-F238E27FC236}">
                <a16:creationId xmlns:a16="http://schemas.microsoft.com/office/drawing/2014/main" id="{F2453A94-D4B3-E734-6FFA-5A7E22A37B6A}"/>
              </a:ext>
            </a:extLst>
          </p:cNvPr>
          <p:cNvSpPr/>
          <p:nvPr/>
        </p:nvSpPr>
        <p:spPr>
          <a:xfrm>
            <a:off x="4414820" y="5062536"/>
            <a:ext cx="3190875" cy="1738312"/>
          </a:xfrm>
          <a:prstGeom prst="flowChartAlternate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a:extLst>
              <a:ext uri="{FF2B5EF4-FFF2-40B4-BE49-F238E27FC236}">
                <a16:creationId xmlns:a16="http://schemas.microsoft.com/office/drawing/2014/main" id="{0DE32424-D8F3-EEDB-FCDC-1C49C25C03A4}"/>
              </a:ext>
            </a:extLst>
          </p:cNvPr>
          <p:cNvSpPr/>
          <p:nvPr/>
        </p:nvSpPr>
        <p:spPr>
          <a:xfrm>
            <a:off x="3471861" y="2339431"/>
            <a:ext cx="923918" cy="4286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a:extLst>
              <a:ext uri="{FF2B5EF4-FFF2-40B4-BE49-F238E27FC236}">
                <a16:creationId xmlns:a16="http://schemas.microsoft.com/office/drawing/2014/main" id="{C01C862B-3AE7-D65F-0FCE-CC9FB00198C4}"/>
              </a:ext>
            </a:extLst>
          </p:cNvPr>
          <p:cNvSpPr/>
          <p:nvPr/>
        </p:nvSpPr>
        <p:spPr>
          <a:xfrm>
            <a:off x="7672382" y="2339430"/>
            <a:ext cx="923918" cy="4286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a:extLst>
              <a:ext uri="{FF2B5EF4-FFF2-40B4-BE49-F238E27FC236}">
                <a16:creationId xmlns:a16="http://schemas.microsoft.com/office/drawing/2014/main" id="{02AFCE5C-5510-6DB1-948D-681922BD69F4}"/>
              </a:ext>
            </a:extLst>
          </p:cNvPr>
          <p:cNvSpPr/>
          <p:nvPr/>
        </p:nvSpPr>
        <p:spPr>
          <a:xfrm rot="3333521">
            <a:off x="8002229" y="4207478"/>
            <a:ext cx="411849" cy="95726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9DA9942-023E-435A-37C6-803BD32BF877}"/>
              </a:ext>
            </a:extLst>
          </p:cNvPr>
          <p:cNvSpPr txBox="1"/>
          <p:nvPr/>
        </p:nvSpPr>
        <p:spPr>
          <a:xfrm>
            <a:off x="385763" y="1839370"/>
            <a:ext cx="2814637" cy="2970044"/>
          </a:xfrm>
          <a:prstGeom prst="rect">
            <a:avLst/>
          </a:prstGeom>
          <a:noFill/>
        </p:spPr>
        <p:txBody>
          <a:bodyPr wrap="square" rtlCol="0">
            <a:spAutoFit/>
          </a:bodyPr>
          <a:lstStyle/>
          <a:p>
            <a:r>
              <a:rPr lang="en-US" sz="1700" b="1" dirty="0"/>
              <a:t>Step 1: Catch duplicates before they even enter the catalog.( Cleaning/Standardizing converting units </a:t>
            </a:r>
            <a:r>
              <a:rPr lang="en-US" sz="1700" b="1" dirty="0" err="1"/>
              <a:t>etc</a:t>
            </a:r>
            <a:r>
              <a:rPr lang="en-US" sz="1700" b="1" dirty="0"/>
              <a:t>).</a:t>
            </a:r>
          </a:p>
          <a:p>
            <a:r>
              <a:rPr lang="en-US" sz="1700" b="1" dirty="0"/>
              <a:t>Applying a set of rules and then using GenAI to automate the process by catalog detection techniques.</a:t>
            </a:r>
            <a:endParaRPr lang="en-US" sz="1700" dirty="0"/>
          </a:p>
          <a:p>
            <a:endParaRPr lang="en-US" sz="1700" b="1" dirty="0"/>
          </a:p>
        </p:txBody>
      </p:sp>
      <p:sp>
        <p:nvSpPr>
          <p:cNvPr id="19" name="TextBox 18">
            <a:extLst>
              <a:ext uri="{FF2B5EF4-FFF2-40B4-BE49-F238E27FC236}">
                <a16:creationId xmlns:a16="http://schemas.microsoft.com/office/drawing/2014/main" id="{51172A1B-75E9-7BA6-9429-7AC04A54F564}"/>
              </a:ext>
            </a:extLst>
          </p:cNvPr>
          <p:cNvSpPr txBox="1"/>
          <p:nvPr/>
        </p:nvSpPr>
        <p:spPr>
          <a:xfrm>
            <a:off x="8862787" y="1867944"/>
            <a:ext cx="2814637" cy="1477328"/>
          </a:xfrm>
          <a:prstGeom prst="rect">
            <a:avLst/>
          </a:prstGeom>
          <a:noFill/>
        </p:spPr>
        <p:txBody>
          <a:bodyPr wrap="square" rtlCol="0">
            <a:spAutoFit/>
          </a:bodyPr>
          <a:lstStyle/>
          <a:p>
            <a:r>
              <a:rPr lang="en-US" b="1" dirty="0"/>
              <a:t>Step 3: Removing bad data at the origin by informing merchants about product catalog standards &amp; formats.</a:t>
            </a:r>
          </a:p>
        </p:txBody>
      </p:sp>
      <p:sp>
        <p:nvSpPr>
          <p:cNvPr id="20" name="TextBox 19">
            <a:extLst>
              <a:ext uri="{FF2B5EF4-FFF2-40B4-BE49-F238E27FC236}">
                <a16:creationId xmlns:a16="http://schemas.microsoft.com/office/drawing/2014/main" id="{7B07150D-57E1-F387-8549-6C42EECDD96C}"/>
              </a:ext>
            </a:extLst>
          </p:cNvPr>
          <p:cNvSpPr txBox="1"/>
          <p:nvPr/>
        </p:nvSpPr>
        <p:spPr>
          <a:xfrm>
            <a:off x="4626761" y="2125124"/>
            <a:ext cx="2814637" cy="2185214"/>
          </a:xfrm>
          <a:prstGeom prst="rect">
            <a:avLst/>
          </a:prstGeom>
          <a:noFill/>
        </p:spPr>
        <p:txBody>
          <a:bodyPr wrap="square" rtlCol="0">
            <a:spAutoFit/>
          </a:bodyPr>
          <a:lstStyle/>
          <a:p>
            <a:r>
              <a:rPr lang="en-US" sz="1700" b="1" dirty="0"/>
              <a:t>Step 2: Having Human in the zone</a:t>
            </a:r>
          </a:p>
          <a:p>
            <a:pPr marL="285750" indent="-285750">
              <a:buFont typeface="Arial" panose="020B0604020202020204" pitchFamily="34" charset="0"/>
              <a:buChar char="•"/>
            </a:pPr>
            <a:r>
              <a:rPr lang="en-US" sz="1700" b="1" dirty="0"/>
              <a:t>Similarity score checker is a great way to do that as it allows us to review parts of the catalog for fixes.</a:t>
            </a:r>
          </a:p>
          <a:p>
            <a:pPr marL="285750" indent="-285750">
              <a:buFont typeface="Arial" panose="020B0604020202020204" pitchFamily="34" charset="0"/>
              <a:buChar char="•"/>
            </a:pPr>
            <a:endParaRPr lang="en-US" sz="1700" b="1" dirty="0"/>
          </a:p>
        </p:txBody>
      </p:sp>
      <p:sp>
        <p:nvSpPr>
          <p:cNvPr id="23" name="TextBox 22">
            <a:extLst>
              <a:ext uri="{FF2B5EF4-FFF2-40B4-BE49-F238E27FC236}">
                <a16:creationId xmlns:a16="http://schemas.microsoft.com/office/drawing/2014/main" id="{8C234521-8E4C-CC56-DBE5-DAB14F206F46}"/>
              </a:ext>
            </a:extLst>
          </p:cNvPr>
          <p:cNvSpPr txBox="1"/>
          <p:nvPr/>
        </p:nvSpPr>
        <p:spPr>
          <a:xfrm>
            <a:off x="4602937" y="5062534"/>
            <a:ext cx="2814637" cy="1754326"/>
          </a:xfrm>
          <a:prstGeom prst="rect">
            <a:avLst/>
          </a:prstGeom>
          <a:noFill/>
        </p:spPr>
        <p:txBody>
          <a:bodyPr wrap="square" rtlCol="0">
            <a:spAutoFit/>
          </a:bodyPr>
          <a:lstStyle/>
          <a:p>
            <a:r>
              <a:rPr lang="en-US" b="1" dirty="0"/>
              <a:t>Step 4: Continuous monitoring of catalog using product insights, trends and detecting duplications using GenAI.</a:t>
            </a:r>
          </a:p>
        </p:txBody>
      </p:sp>
    </p:spTree>
    <p:extLst>
      <p:ext uri="{BB962C8B-B14F-4D97-AF65-F5344CB8AC3E}">
        <p14:creationId xmlns:p14="http://schemas.microsoft.com/office/powerpoint/2010/main" val="32672794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D07A27F-4452-8606-EADC-D29DD077C76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EF3050F-FF0C-C040-DF0D-B33B0CA65DF4}"/>
              </a:ext>
            </a:extLst>
          </p:cNvPr>
          <p:cNvSpPr>
            <a:spLocks noGrp="1"/>
          </p:cNvSpPr>
          <p:nvPr>
            <p:ph type="title"/>
          </p:nvPr>
        </p:nvSpPr>
        <p:spPr>
          <a:xfrm>
            <a:off x="900120" y="230590"/>
            <a:ext cx="9015288" cy="553179"/>
          </a:xfrm>
        </p:spPr>
        <p:txBody>
          <a:bodyPr>
            <a:normAutofit fontScale="90000"/>
          </a:bodyPr>
          <a:lstStyle/>
          <a:p>
            <a:pPr algn="ctr"/>
            <a:r>
              <a:rPr lang="en-US" b="1" dirty="0">
                <a:solidFill>
                  <a:schemeClr val="bg1"/>
                </a:solidFill>
              </a:rPr>
              <a:t>Fix Recommendations</a:t>
            </a:r>
          </a:p>
        </p:txBody>
      </p:sp>
      <p:sp>
        <p:nvSpPr>
          <p:cNvPr id="5" name="Content Placeholder 2">
            <a:extLst>
              <a:ext uri="{FF2B5EF4-FFF2-40B4-BE49-F238E27FC236}">
                <a16:creationId xmlns:a16="http://schemas.microsoft.com/office/drawing/2014/main" id="{61552C2C-7DC6-0309-F811-27E7F6BED576}"/>
              </a:ext>
            </a:extLst>
          </p:cNvPr>
          <p:cNvSpPr txBox="1">
            <a:spLocks/>
          </p:cNvSpPr>
          <p:nvPr/>
        </p:nvSpPr>
        <p:spPr>
          <a:xfrm>
            <a:off x="579636" y="1493204"/>
            <a:ext cx="11280378" cy="7439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dirty="0">
                <a:solidFill>
                  <a:schemeClr val="bg1"/>
                </a:solidFill>
              </a:rPr>
              <a:t>Scaling the project globally is ambitious &amp; this means that we know and identify our duplicates well enough for it to give us a great accuracy &amp; also build a scalable workflow. Global scaling means confidently spotting duplicates in any language (≥95% precision) and running a simple, repeatable process.</a:t>
            </a:r>
          </a:p>
          <a:p>
            <a:pPr marL="0" indent="0">
              <a:buFont typeface="Arial" panose="020B0604020202020204" pitchFamily="34" charset="0"/>
              <a:buNone/>
            </a:pPr>
            <a:endParaRPr lang="en-US" sz="2400" b="1" dirty="0">
              <a:solidFill>
                <a:schemeClr val="bg1"/>
              </a:solidFill>
            </a:endParaRPr>
          </a:p>
        </p:txBody>
      </p:sp>
      <p:sp>
        <p:nvSpPr>
          <p:cNvPr id="6" name="Content Placeholder 2">
            <a:extLst>
              <a:ext uri="{FF2B5EF4-FFF2-40B4-BE49-F238E27FC236}">
                <a16:creationId xmlns:a16="http://schemas.microsoft.com/office/drawing/2014/main" id="{94A72C71-FA16-5ABC-59AB-774EE82710BA}"/>
              </a:ext>
            </a:extLst>
          </p:cNvPr>
          <p:cNvSpPr txBox="1">
            <a:spLocks/>
          </p:cNvSpPr>
          <p:nvPr/>
        </p:nvSpPr>
        <p:spPr>
          <a:xfrm>
            <a:off x="579636" y="3562611"/>
            <a:ext cx="11280378" cy="7439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i="1" dirty="0">
                <a:solidFill>
                  <a:schemeClr val="bg1"/>
                </a:solidFill>
              </a:rPr>
              <a:t>Solution 1: </a:t>
            </a:r>
            <a:r>
              <a:rPr lang="en-US" sz="2000" dirty="0">
                <a:solidFill>
                  <a:schemeClr val="bg1"/>
                </a:solidFill>
              </a:rPr>
              <a:t>Multi-Lingual Hybrid Retrieval-Augmented Generation (RAG) approach</a:t>
            </a:r>
          </a:p>
          <a:p>
            <a:r>
              <a:rPr lang="en-US" sz="2000" b="1" i="1" dirty="0">
                <a:solidFill>
                  <a:schemeClr val="bg1"/>
                </a:solidFill>
              </a:rPr>
              <a:t>Solution 2: </a:t>
            </a:r>
            <a:r>
              <a:rPr lang="en-US" sz="2000" dirty="0">
                <a:solidFill>
                  <a:schemeClr val="bg1"/>
                </a:solidFill>
              </a:rPr>
              <a:t>Rule based duplication for high volume SKUs</a:t>
            </a:r>
          </a:p>
          <a:p>
            <a:r>
              <a:rPr lang="en-US" sz="2000" b="1" i="1" dirty="0">
                <a:solidFill>
                  <a:schemeClr val="bg1"/>
                </a:solidFill>
              </a:rPr>
              <a:t>Solution 3 </a:t>
            </a:r>
            <a:r>
              <a:rPr lang="en-US" sz="2000" dirty="0">
                <a:solidFill>
                  <a:schemeClr val="bg1"/>
                </a:solidFill>
              </a:rPr>
              <a:t>: Geo-Localized Synonym Dictionaries</a:t>
            </a:r>
          </a:p>
          <a:p>
            <a:r>
              <a:rPr lang="en-US" sz="2000" b="1" i="1" dirty="0">
                <a:solidFill>
                  <a:schemeClr val="bg1"/>
                </a:solidFill>
              </a:rPr>
              <a:t>Solution 4: </a:t>
            </a:r>
            <a:r>
              <a:rPr lang="en-US" sz="2000" dirty="0">
                <a:solidFill>
                  <a:schemeClr val="bg1"/>
                </a:solidFill>
              </a:rPr>
              <a:t>Merchant Training to Standardize naming conventions.</a:t>
            </a:r>
          </a:p>
          <a:p>
            <a:endParaRPr lang="en-US" sz="2000" dirty="0">
              <a:solidFill>
                <a:schemeClr val="bg1"/>
              </a:solidFill>
            </a:endParaRPr>
          </a:p>
          <a:p>
            <a:pPr marL="0" indent="0">
              <a:buFont typeface="Arial" panose="020B0604020202020204" pitchFamily="34" charset="0"/>
              <a:buNone/>
            </a:pPr>
            <a:endParaRPr lang="en-US" sz="2000" dirty="0">
              <a:solidFill>
                <a:schemeClr val="bg1"/>
              </a:solidFill>
            </a:endParaRPr>
          </a:p>
        </p:txBody>
      </p:sp>
    </p:spTree>
    <p:extLst>
      <p:ext uri="{BB962C8B-B14F-4D97-AF65-F5344CB8AC3E}">
        <p14:creationId xmlns:p14="http://schemas.microsoft.com/office/powerpoint/2010/main" val="106609902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C1C8FDD-079F-57FC-FD36-2A885D881695}"/>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171530EE-BFBE-CDF3-949C-F9671CB4C143}"/>
              </a:ext>
            </a:extLst>
          </p:cNvPr>
          <p:cNvGrpSpPr/>
          <p:nvPr/>
        </p:nvGrpSpPr>
        <p:grpSpPr>
          <a:xfrm>
            <a:off x="-1" y="0"/>
            <a:ext cx="11637818" cy="6858000"/>
            <a:chOff x="-1" y="0"/>
            <a:chExt cx="11637818" cy="6858000"/>
          </a:xfrm>
        </p:grpSpPr>
        <p:sp>
          <p:nvSpPr>
            <p:cNvPr id="2" name="Freeform 1">
              <a:extLst>
                <a:ext uri="{FF2B5EF4-FFF2-40B4-BE49-F238E27FC236}">
                  <a16:creationId xmlns:a16="http://schemas.microsoft.com/office/drawing/2014/main" id="{2E08D71A-4070-D4B7-A1A7-3B4EDF00FAE1}"/>
                </a:ext>
              </a:extLst>
            </p:cNvPr>
            <p:cNvSpPr/>
            <p:nvPr/>
          </p:nvSpPr>
          <p:spPr>
            <a:xfrm>
              <a:off x="-1" y="0"/>
              <a:ext cx="11637818" cy="6858000"/>
            </a:xfrm>
            <a:custGeom>
              <a:avLst/>
              <a:gdLst>
                <a:gd name="connsiteX0" fmla="*/ 0 w 11637818"/>
                <a:gd name="connsiteY0" fmla="*/ 0 h 6858000"/>
                <a:gd name="connsiteX1" fmla="*/ 11091553 w 11637818"/>
                <a:gd name="connsiteY1" fmla="*/ 0 h 6858000"/>
                <a:gd name="connsiteX2" fmla="*/ 11091553 w 11637818"/>
                <a:gd name="connsiteY2" fmla="*/ 575950 h 6858000"/>
                <a:gd name="connsiteX3" fmla="*/ 11483436 w 11637818"/>
                <a:gd name="connsiteY3" fmla="*/ 575950 h 6858000"/>
                <a:gd name="connsiteX4" fmla="*/ 11637818 w 11637818"/>
                <a:gd name="connsiteY4" fmla="*/ 730332 h 6858000"/>
                <a:gd name="connsiteX5" fmla="*/ 11637818 w 11637818"/>
                <a:gd name="connsiteY5" fmla="*/ 1347843 h 6858000"/>
                <a:gd name="connsiteX6" fmla="*/ 11483436 w 11637818"/>
                <a:gd name="connsiteY6" fmla="*/ 1502225 h 6858000"/>
                <a:gd name="connsiteX7" fmla="*/ 11091553 w 11637818"/>
                <a:gd name="connsiteY7" fmla="*/ 1502225 h 6858000"/>
                <a:gd name="connsiteX8" fmla="*/ 11091553 w 11637818"/>
                <a:gd name="connsiteY8" fmla="*/ 6858000 h 6858000"/>
                <a:gd name="connsiteX9" fmla="*/ 0 w 11637818"/>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7818" h="6858000">
                  <a:moveTo>
                    <a:pt x="0" y="0"/>
                  </a:moveTo>
                  <a:lnTo>
                    <a:pt x="11091553" y="0"/>
                  </a:lnTo>
                  <a:lnTo>
                    <a:pt x="11091553" y="575950"/>
                  </a:lnTo>
                  <a:lnTo>
                    <a:pt x="11483436" y="575950"/>
                  </a:lnTo>
                  <a:cubicBezTo>
                    <a:pt x="11568699" y="575950"/>
                    <a:pt x="11637818" y="645069"/>
                    <a:pt x="11637818" y="730332"/>
                  </a:cubicBezTo>
                  <a:lnTo>
                    <a:pt x="11637818" y="1347843"/>
                  </a:lnTo>
                  <a:cubicBezTo>
                    <a:pt x="11637818" y="1433106"/>
                    <a:pt x="11568699" y="1502225"/>
                    <a:pt x="11483436" y="1502225"/>
                  </a:cubicBezTo>
                  <a:lnTo>
                    <a:pt x="11091553" y="1502225"/>
                  </a:lnTo>
                  <a:lnTo>
                    <a:pt x="11091553" y="6858000"/>
                  </a:lnTo>
                  <a:lnTo>
                    <a:pt x="0" y="6858000"/>
                  </a:lnTo>
                  <a:close/>
                </a:path>
              </a:pathLst>
            </a:custGeom>
            <a:solidFill>
              <a:schemeClr val="bg1"/>
            </a:solidFill>
            <a:ln>
              <a:noFill/>
            </a:ln>
            <a:effectLst>
              <a:outerShdw blurRad="127000" dist="50800" dir="5400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extBox 8">
              <a:extLst>
                <a:ext uri="{FF2B5EF4-FFF2-40B4-BE49-F238E27FC236}">
                  <a16:creationId xmlns:a16="http://schemas.microsoft.com/office/drawing/2014/main" id="{32769232-294A-2BEB-5961-D31B1C98ECD1}"/>
                </a:ext>
              </a:extLst>
            </p:cNvPr>
            <p:cNvSpPr txBox="1"/>
            <p:nvPr/>
          </p:nvSpPr>
          <p:spPr>
            <a:xfrm>
              <a:off x="1371603" y="515377"/>
              <a:ext cx="8043156" cy="954107"/>
            </a:xfrm>
            <a:prstGeom prst="rect">
              <a:avLst/>
            </a:prstGeom>
            <a:noFill/>
          </p:spPr>
          <p:txBody>
            <a:bodyPr wrap="square" rtlCol="0">
              <a:spAutoFit/>
            </a:bodyPr>
            <a:lstStyle/>
            <a:p>
              <a:pPr algn="ctr"/>
              <a:r>
                <a:rPr lang="en-US" sz="2800" b="1" dirty="0"/>
                <a:t>Multi-Lingual Hybrid Retrieval-Augmented Generation (RAG) approach</a:t>
              </a:r>
            </a:p>
          </p:txBody>
        </p:sp>
        <p:sp>
          <p:nvSpPr>
            <p:cNvPr id="11" name="TextBox 10">
              <a:extLst>
                <a:ext uri="{FF2B5EF4-FFF2-40B4-BE49-F238E27FC236}">
                  <a16:creationId xmlns:a16="http://schemas.microsoft.com/office/drawing/2014/main" id="{939FFBD0-11FA-E360-51DC-0A4BB3BBBE95}"/>
                </a:ext>
              </a:extLst>
            </p:cNvPr>
            <p:cNvSpPr txBox="1"/>
            <p:nvPr/>
          </p:nvSpPr>
          <p:spPr>
            <a:xfrm>
              <a:off x="828675" y="1816362"/>
              <a:ext cx="9429750" cy="1015663"/>
            </a:xfrm>
            <a:prstGeom prst="rect">
              <a:avLst/>
            </a:prstGeom>
            <a:noFill/>
            <a:ln>
              <a:solidFill>
                <a:schemeClr val="tx1"/>
              </a:solidFill>
            </a:ln>
          </p:spPr>
          <p:txBody>
            <a:bodyPr wrap="square" rtlCol="0">
              <a:spAutoFit/>
            </a:bodyPr>
            <a:lstStyle/>
            <a:p>
              <a:pPr algn="ctr"/>
              <a:r>
                <a:rPr lang="en-US" sz="2000" b="1" dirty="0"/>
                <a:t>Strategy : </a:t>
              </a:r>
              <a:r>
                <a:rPr lang="en-US" sz="2000" dirty="0"/>
                <a:t>Ingesting a Hybrid RAG into the duplication process would help evaluate each new incoming product based on language, brand, category, unit differences, etc.</a:t>
              </a:r>
            </a:p>
          </p:txBody>
        </p:sp>
        <p:sp>
          <p:nvSpPr>
            <p:cNvPr id="12" name="TextBox 11">
              <a:extLst>
                <a:ext uri="{FF2B5EF4-FFF2-40B4-BE49-F238E27FC236}">
                  <a16:creationId xmlns:a16="http://schemas.microsoft.com/office/drawing/2014/main" id="{09CF2498-0A2E-E59A-5292-7E5BBDD7D75E}"/>
                </a:ext>
              </a:extLst>
            </p:cNvPr>
            <p:cNvSpPr txBox="1"/>
            <p:nvPr/>
          </p:nvSpPr>
          <p:spPr>
            <a:xfrm>
              <a:off x="10786362" y="515377"/>
              <a:ext cx="851455" cy="1015663"/>
            </a:xfrm>
            <a:prstGeom prst="rect">
              <a:avLst/>
            </a:prstGeom>
            <a:noFill/>
          </p:spPr>
          <p:txBody>
            <a:bodyPr wrap="square" rtlCol="0">
              <a:spAutoFit/>
            </a:bodyPr>
            <a:lstStyle/>
            <a:p>
              <a:pPr algn="ctr"/>
              <a:r>
                <a:rPr lang="en-US" sz="6000" b="1" dirty="0"/>
                <a:t>1</a:t>
              </a:r>
            </a:p>
          </p:txBody>
        </p:sp>
      </p:grpSp>
      <p:sp>
        <p:nvSpPr>
          <p:cNvPr id="17" name="TextBox 16">
            <a:extLst>
              <a:ext uri="{FF2B5EF4-FFF2-40B4-BE49-F238E27FC236}">
                <a16:creationId xmlns:a16="http://schemas.microsoft.com/office/drawing/2014/main" id="{D6FE7DE8-B874-3C99-BF60-0FB7D0F79B62}"/>
              </a:ext>
            </a:extLst>
          </p:cNvPr>
          <p:cNvSpPr txBox="1"/>
          <p:nvPr/>
        </p:nvSpPr>
        <p:spPr>
          <a:xfrm>
            <a:off x="828675" y="3150327"/>
            <a:ext cx="9429750" cy="1631216"/>
          </a:xfrm>
          <a:prstGeom prst="rect">
            <a:avLst/>
          </a:prstGeom>
          <a:noFill/>
          <a:ln>
            <a:solidFill>
              <a:schemeClr val="tx1"/>
            </a:solidFill>
          </a:ln>
        </p:spPr>
        <p:txBody>
          <a:bodyPr wrap="square" rtlCol="0">
            <a:spAutoFit/>
          </a:bodyPr>
          <a:lstStyle/>
          <a:p>
            <a:pPr algn="ctr"/>
            <a:r>
              <a:rPr lang="en-US" sz="2000" b="1" dirty="0"/>
              <a:t>Benefits :</a:t>
            </a:r>
          </a:p>
          <a:p>
            <a:pPr marL="342900" indent="-342900" algn="ctr">
              <a:buFont typeface="Arial" panose="020B0604020202020204" pitchFamily="34" charset="0"/>
              <a:buChar char="•"/>
            </a:pPr>
            <a:r>
              <a:rPr lang="en-US" sz="2000" b="1" dirty="0"/>
              <a:t>This would massively help us in analyzing similarity scores, flagging duplicates, &amp; also scaling it to global countries irrespective of language.</a:t>
            </a:r>
          </a:p>
          <a:p>
            <a:pPr marL="342900" indent="-342900" algn="ctr">
              <a:buFont typeface="Arial" panose="020B0604020202020204" pitchFamily="34" charset="0"/>
              <a:buChar char="•"/>
            </a:pPr>
            <a:r>
              <a:rPr lang="en-US" sz="2000" b="1" dirty="0"/>
              <a:t>My suggestion is that this approach can yield a highest accuracy while scaling globally.</a:t>
            </a:r>
            <a:endParaRPr lang="en-US" sz="2000" dirty="0"/>
          </a:p>
        </p:txBody>
      </p:sp>
      <p:sp>
        <p:nvSpPr>
          <p:cNvPr id="19" name="TextBox 18">
            <a:extLst>
              <a:ext uri="{FF2B5EF4-FFF2-40B4-BE49-F238E27FC236}">
                <a16:creationId xmlns:a16="http://schemas.microsoft.com/office/drawing/2014/main" id="{2811F83A-0391-605C-C6BF-044BA4C95CE5}"/>
              </a:ext>
            </a:extLst>
          </p:cNvPr>
          <p:cNvSpPr txBox="1"/>
          <p:nvPr/>
        </p:nvSpPr>
        <p:spPr>
          <a:xfrm>
            <a:off x="828675" y="5111323"/>
            <a:ext cx="9429750" cy="1015663"/>
          </a:xfrm>
          <a:prstGeom prst="rect">
            <a:avLst/>
          </a:prstGeom>
          <a:noFill/>
          <a:ln>
            <a:solidFill>
              <a:schemeClr val="tx1"/>
            </a:solidFill>
          </a:ln>
        </p:spPr>
        <p:txBody>
          <a:bodyPr wrap="square" rtlCol="0">
            <a:spAutoFit/>
          </a:bodyPr>
          <a:lstStyle/>
          <a:p>
            <a:pPr algn="ctr"/>
            <a:r>
              <a:rPr lang="en-US" sz="2000" b="1" dirty="0"/>
              <a:t>Cons :</a:t>
            </a:r>
          </a:p>
          <a:p>
            <a:pPr marL="342900" indent="-342900" algn="ctr">
              <a:buFont typeface="Arial" panose="020B0604020202020204" pitchFamily="34" charset="0"/>
              <a:buChar char="•"/>
            </a:pPr>
            <a:r>
              <a:rPr lang="en-US" sz="2000" b="1" dirty="0"/>
              <a:t>Since this operates on larger datasets, the cost can be high. </a:t>
            </a:r>
          </a:p>
          <a:p>
            <a:pPr algn="ctr"/>
            <a:endParaRPr lang="en-US" sz="2000" dirty="0"/>
          </a:p>
        </p:txBody>
      </p:sp>
    </p:spTree>
    <p:extLst>
      <p:ext uri="{BB962C8B-B14F-4D97-AF65-F5344CB8AC3E}">
        <p14:creationId xmlns:p14="http://schemas.microsoft.com/office/powerpoint/2010/main" val="109717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0E6FF13-BBB1-14E3-FB81-DD370A73EAAC}"/>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C7522A68-3DF2-99B5-4F8B-8AF6F3F2E351}"/>
              </a:ext>
            </a:extLst>
          </p:cNvPr>
          <p:cNvGrpSpPr/>
          <p:nvPr/>
        </p:nvGrpSpPr>
        <p:grpSpPr>
          <a:xfrm>
            <a:off x="-1" y="0"/>
            <a:ext cx="11634292" cy="6858000"/>
            <a:chOff x="-1" y="0"/>
            <a:chExt cx="11634292" cy="6858000"/>
          </a:xfrm>
          <a:solidFill>
            <a:schemeClr val="bg1"/>
          </a:solidFill>
        </p:grpSpPr>
        <p:sp>
          <p:nvSpPr>
            <p:cNvPr id="2" name="Freeform 1">
              <a:extLst>
                <a:ext uri="{FF2B5EF4-FFF2-40B4-BE49-F238E27FC236}">
                  <a16:creationId xmlns:a16="http://schemas.microsoft.com/office/drawing/2014/main" id="{741F93A2-6C02-A581-F23F-2753FE7E221C}"/>
                </a:ext>
              </a:extLst>
            </p:cNvPr>
            <p:cNvSpPr/>
            <p:nvPr/>
          </p:nvSpPr>
          <p:spPr>
            <a:xfrm>
              <a:off x="-1" y="0"/>
              <a:ext cx="11625942" cy="6858000"/>
            </a:xfrm>
            <a:custGeom>
              <a:avLst/>
              <a:gdLst>
                <a:gd name="connsiteX0" fmla="*/ 0 w 11625942"/>
                <a:gd name="connsiteY0" fmla="*/ 0 h 6858000"/>
                <a:gd name="connsiteX1" fmla="*/ 11091553 w 11625942"/>
                <a:gd name="connsiteY1" fmla="*/ 0 h 6858000"/>
                <a:gd name="connsiteX2" fmla="*/ 11091553 w 11625942"/>
                <a:gd name="connsiteY2" fmla="*/ 2062346 h 6858000"/>
                <a:gd name="connsiteX3" fmla="*/ 11471560 w 11625942"/>
                <a:gd name="connsiteY3" fmla="*/ 2062346 h 6858000"/>
                <a:gd name="connsiteX4" fmla="*/ 11625942 w 11625942"/>
                <a:gd name="connsiteY4" fmla="*/ 2216728 h 6858000"/>
                <a:gd name="connsiteX5" fmla="*/ 11625942 w 11625942"/>
                <a:gd name="connsiteY5" fmla="*/ 2834239 h 6858000"/>
                <a:gd name="connsiteX6" fmla="*/ 11471560 w 11625942"/>
                <a:gd name="connsiteY6" fmla="*/ 2988621 h 6858000"/>
                <a:gd name="connsiteX7" fmla="*/ 11091553 w 11625942"/>
                <a:gd name="connsiteY7" fmla="*/ 2988621 h 6858000"/>
                <a:gd name="connsiteX8" fmla="*/ 11091553 w 11625942"/>
                <a:gd name="connsiteY8" fmla="*/ 6858000 h 6858000"/>
                <a:gd name="connsiteX9" fmla="*/ 0 w 11625942"/>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25942" h="6858000">
                  <a:moveTo>
                    <a:pt x="0" y="0"/>
                  </a:moveTo>
                  <a:lnTo>
                    <a:pt x="11091553" y="0"/>
                  </a:lnTo>
                  <a:lnTo>
                    <a:pt x="11091553" y="2062346"/>
                  </a:lnTo>
                  <a:lnTo>
                    <a:pt x="11471560" y="2062346"/>
                  </a:lnTo>
                  <a:cubicBezTo>
                    <a:pt x="11556823" y="2062346"/>
                    <a:pt x="11625942" y="2131465"/>
                    <a:pt x="11625942" y="2216728"/>
                  </a:cubicBezTo>
                  <a:lnTo>
                    <a:pt x="11625942" y="2834239"/>
                  </a:lnTo>
                  <a:cubicBezTo>
                    <a:pt x="11625942" y="2919502"/>
                    <a:pt x="11556823" y="2988621"/>
                    <a:pt x="11471560" y="2988621"/>
                  </a:cubicBezTo>
                  <a:lnTo>
                    <a:pt x="11091553" y="2988621"/>
                  </a:lnTo>
                  <a:lnTo>
                    <a:pt x="11091553" y="6858000"/>
                  </a:lnTo>
                  <a:lnTo>
                    <a:pt x="0" y="6858000"/>
                  </a:lnTo>
                  <a:close/>
                </a:path>
              </a:pathLst>
            </a:custGeom>
            <a:grpFill/>
            <a:ln>
              <a:noFill/>
            </a:ln>
            <a:effectLst>
              <a:outerShdw blurRad="127000" dist="50800" dir="5400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Graphic 9" descr="Presentation with org chart outline">
              <a:extLst>
                <a:ext uri="{FF2B5EF4-FFF2-40B4-BE49-F238E27FC236}">
                  <a16:creationId xmlns:a16="http://schemas.microsoft.com/office/drawing/2014/main" id="{DDD6D469-BF2C-5031-99E1-CAF06CF545C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55270" y="4669708"/>
              <a:ext cx="1260323" cy="1260323"/>
            </a:xfrm>
            <a:prstGeom prst="rect">
              <a:avLst/>
            </a:prstGeom>
          </p:spPr>
        </p:pic>
        <p:sp>
          <p:nvSpPr>
            <p:cNvPr id="12" name="TextBox 11">
              <a:extLst>
                <a:ext uri="{FF2B5EF4-FFF2-40B4-BE49-F238E27FC236}">
                  <a16:creationId xmlns:a16="http://schemas.microsoft.com/office/drawing/2014/main" id="{D94F2E65-FF2D-20A3-42F8-D60468FE5E26}"/>
                </a:ext>
              </a:extLst>
            </p:cNvPr>
            <p:cNvSpPr txBox="1"/>
            <p:nvPr/>
          </p:nvSpPr>
          <p:spPr>
            <a:xfrm>
              <a:off x="10782836" y="2003322"/>
              <a:ext cx="851455" cy="1015663"/>
            </a:xfrm>
            <a:prstGeom prst="rect">
              <a:avLst/>
            </a:prstGeom>
            <a:grpFill/>
          </p:spPr>
          <p:txBody>
            <a:bodyPr wrap="square" rtlCol="0">
              <a:spAutoFit/>
            </a:bodyPr>
            <a:lstStyle/>
            <a:p>
              <a:pPr algn="ctr"/>
              <a:r>
                <a:rPr lang="en-US" sz="6000" b="1" dirty="0"/>
                <a:t>2</a:t>
              </a:r>
            </a:p>
          </p:txBody>
        </p:sp>
      </p:grpSp>
      <p:sp>
        <p:nvSpPr>
          <p:cNvPr id="23" name="TextBox 22">
            <a:extLst>
              <a:ext uri="{FF2B5EF4-FFF2-40B4-BE49-F238E27FC236}">
                <a16:creationId xmlns:a16="http://schemas.microsoft.com/office/drawing/2014/main" id="{CF3C37BD-3B23-EBD6-05B0-49DF4531285D}"/>
              </a:ext>
            </a:extLst>
          </p:cNvPr>
          <p:cNvSpPr txBox="1"/>
          <p:nvPr/>
        </p:nvSpPr>
        <p:spPr>
          <a:xfrm>
            <a:off x="1371603" y="515377"/>
            <a:ext cx="8043156" cy="523220"/>
          </a:xfrm>
          <a:prstGeom prst="rect">
            <a:avLst/>
          </a:prstGeom>
          <a:noFill/>
        </p:spPr>
        <p:txBody>
          <a:bodyPr wrap="square" rtlCol="0">
            <a:spAutoFit/>
          </a:bodyPr>
          <a:lstStyle/>
          <a:p>
            <a:r>
              <a:rPr lang="en-US" sz="2800" b="1" dirty="0"/>
              <a:t>Rule-Based Duplication for High-Volume SKUs</a:t>
            </a:r>
          </a:p>
        </p:txBody>
      </p:sp>
      <p:sp>
        <p:nvSpPr>
          <p:cNvPr id="24" name="TextBox 23">
            <a:extLst>
              <a:ext uri="{FF2B5EF4-FFF2-40B4-BE49-F238E27FC236}">
                <a16:creationId xmlns:a16="http://schemas.microsoft.com/office/drawing/2014/main" id="{5D1ABF06-4256-F341-AF3B-90E8653DA59E}"/>
              </a:ext>
            </a:extLst>
          </p:cNvPr>
          <p:cNvSpPr txBox="1"/>
          <p:nvPr/>
        </p:nvSpPr>
        <p:spPr>
          <a:xfrm>
            <a:off x="828675" y="1816362"/>
            <a:ext cx="9429750" cy="1323439"/>
          </a:xfrm>
          <a:prstGeom prst="rect">
            <a:avLst/>
          </a:prstGeom>
          <a:noFill/>
          <a:ln>
            <a:solidFill>
              <a:schemeClr val="tx1"/>
            </a:solidFill>
          </a:ln>
        </p:spPr>
        <p:txBody>
          <a:bodyPr wrap="square" rtlCol="0">
            <a:spAutoFit/>
          </a:bodyPr>
          <a:lstStyle/>
          <a:p>
            <a:pPr algn="ctr"/>
            <a:r>
              <a:rPr lang="en-US" sz="2000" b="1" dirty="0"/>
              <a:t>Strategy : </a:t>
            </a:r>
            <a:r>
              <a:rPr lang="en-US" sz="2000" dirty="0"/>
              <a:t>We need to ensure that high selling SKUs are always present to the customer or else that can cause pain points to them leading to dissatisfaction. By having a set defined rule system or rule playbook, we can identify those high volume SKUS by auto – merging them into the system leading to faster launches</a:t>
            </a:r>
            <a:r>
              <a:rPr lang="en-US" sz="2000" b="1" dirty="0"/>
              <a:t>.</a:t>
            </a:r>
            <a:endParaRPr lang="en-US" sz="2000" dirty="0"/>
          </a:p>
        </p:txBody>
      </p:sp>
      <p:sp>
        <p:nvSpPr>
          <p:cNvPr id="25" name="TextBox 24">
            <a:extLst>
              <a:ext uri="{FF2B5EF4-FFF2-40B4-BE49-F238E27FC236}">
                <a16:creationId xmlns:a16="http://schemas.microsoft.com/office/drawing/2014/main" id="{215FA976-C8FB-7C9D-765E-0FE147C17A01}"/>
              </a:ext>
            </a:extLst>
          </p:cNvPr>
          <p:cNvSpPr txBox="1"/>
          <p:nvPr/>
        </p:nvSpPr>
        <p:spPr>
          <a:xfrm>
            <a:off x="828675" y="3364647"/>
            <a:ext cx="9429750" cy="1323439"/>
          </a:xfrm>
          <a:prstGeom prst="rect">
            <a:avLst/>
          </a:prstGeom>
          <a:noFill/>
          <a:ln>
            <a:solidFill>
              <a:schemeClr val="tx1"/>
            </a:solidFill>
          </a:ln>
        </p:spPr>
        <p:txBody>
          <a:bodyPr wrap="square" rtlCol="0">
            <a:spAutoFit/>
          </a:bodyPr>
          <a:lstStyle/>
          <a:p>
            <a:pPr algn="ctr"/>
            <a:r>
              <a:rPr lang="en-US" sz="2000" b="1" dirty="0"/>
              <a:t>Benefits :</a:t>
            </a:r>
          </a:p>
          <a:p>
            <a:pPr marL="342900" indent="-342900" algn="ctr">
              <a:buFont typeface="Arial" panose="020B0604020202020204" pitchFamily="34" charset="0"/>
              <a:buChar char="•"/>
            </a:pPr>
            <a:r>
              <a:rPr lang="en-US" sz="2000" b="1" dirty="0"/>
              <a:t>Faster launches from merchant into the system preventing customer dissatisfaction.</a:t>
            </a:r>
          </a:p>
          <a:p>
            <a:pPr marL="342900" indent="-342900" algn="ctr">
              <a:buFont typeface="Arial" panose="020B0604020202020204" pitchFamily="34" charset="0"/>
              <a:buChar char="•"/>
            </a:pPr>
            <a:r>
              <a:rPr lang="en-US" sz="2000" b="1" dirty="0"/>
              <a:t>Cheaper at cost &amp; also easier to implement.</a:t>
            </a:r>
          </a:p>
        </p:txBody>
      </p:sp>
      <p:sp>
        <p:nvSpPr>
          <p:cNvPr id="26" name="TextBox 25">
            <a:extLst>
              <a:ext uri="{FF2B5EF4-FFF2-40B4-BE49-F238E27FC236}">
                <a16:creationId xmlns:a16="http://schemas.microsoft.com/office/drawing/2014/main" id="{92137C65-CDF0-7699-7FE7-F7DF75E23B08}"/>
              </a:ext>
            </a:extLst>
          </p:cNvPr>
          <p:cNvSpPr txBox="1"/>
          <p:nvPr/>
        </p:nvSpPr>
        <p:spPr>
          <a:xfrm>
            <a:off x="828675" y="4912932"/>
            <a:ext cx="9429750" cy="1323439"/>
          </a:xfrm>
          <a:prstGeom prst="rect">
            <a:avLst/>
          </a:prstGeom>
          <a:noFill/>
          <a:ln>
            <a:solidFill>
              <a:schemeClr val="tx1"/>
            </a:solidFill>
          </a:ln>
        </p:spPr>
        <p:txBody>
          <a:bodyPr wrap="square" rtlCol="0">
            <a:spAutoFit/>
          </a:bodyPr>
          <a:lstStyle/>
          <a:p>
            <a:pPr algn="ctr"/>
            <a:r>
              <a:rPr lang="en-US" sz="2000" b="1" dirty="0"/>
              <a:t>Cons :</a:t>
            </a:r>
          </a:p>
          <a:p>
            <a:pPr marL="342900" indent="-342900" algn="ctr">
              <a:buFont typeface="Arial" panose="020B0604020202020204" pitchFamily="34" charset="0"/>
              <a:buChar char="•"/>
            </a:pPr>
            <a:r>
              <a:rPr lang="en-US" sz="2000" b="1" dirty="0"/>
              <a:t>Some products may escape the rules due to the rules not capturing all types of permutations and combinations.(High Precision &amp; Low Recall)</a:t>
            </a:r>
          </a:p>
          <a:p>
            <a:pPr algn="ctr"/>
            <a:endParaRPr lang="en-US" sz="2000" b="1" dirty="0"/>
          </a:p>
        </p:txBody>
      </p:sp>
    </p:spTree>
    <p:extLst>
      <p:ext uri="{BB962C8B-B14F-4D97-AF65-F5344CB8AC3E}">
        <p14:creationId xmlns:p14="http://schemas.microsoft.com/office/powerpoint/2010/main" val="17523139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928EF79-A665-4F7C-BD8A-70881346A656}"/>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E734B1D9-52FD-A4AF-6DB3-EF30EA404269}"/>
              </a:ext>
            </a:extLst>
          </p:cNvPr>
          <p:cNvGrpSpPr/>
          <p:nvPr/>
        </p:nvGrpSpPr>
        <p:grpSpPr>
          <a:xfrm>
            <a:off x="0" y="0"/>
            <a:ext cx="11625942" cy="6858000"/>
            <a:chOff x="0" y="0"/>
            <a:chExt cx="11625942" cy="6858000"/>
          </a:xfrm>
          <a:solidFill>
            <a:schemeClr val="bg1"/>
          </a:solidFill>
        </p:grpSpPr>
        <p:sp>
          <p:nvSpPr>
            <p:cNvPr id="2" name="Freeform 1">
              <a:extLst>
                <a:ext uri="{FF2B5EF4-FFF2-40B4-BE49-F238E27FC236}">
                  <a16:creationId xmlns:a16="http://schemas.microsoft.com/office/drawing/2014/main" id="{B1AF56DA-898E-AE21-CDE7-8A1F51F48AD1}"/>
                </a:ext>
              </a:extLst>
            </p:cNvPr>
            <p:cNvSpPr/>
            <p:nvPr/>
          </p:nvSpPr>
          <p:spPr>
            <a:xfrm>
              <a:off x="0" y="0"/>
              <a:ext cx="11625942" cy="6858000"/>
            </a:xfrm>
            <a:custGeom>
              <a:avLst/>
              <a:gdLst>
                <a:gd name="connsiteX0" fmla="*/ 0 w 11625942"/>
                <a:gd name="connsiteY0" fmla="*/ 0 h 6858000"/>
                <a:gd name="connsiteX1" fmla="*/ 11091553 w 11625942"/>
                <a:gd name="connsiteY1" fmla="*/ 0 h 6858000"/>
                <a:gd name="connsiteX2" fmla="*/ 11091553 w 11625942"/>
                <a:gd name="connsiteY2" fmla="*/ 3548742 h 6858000"/>
                <a:gd name="connsiteX3" fmla="*/ 11471560 w 11625942"/>
                <a:gd name="connsiteY3" fmla="*/ 3548742 h 6858000"/>
                <a:gd name="connsiteX4" fmla="*/ 11625942 w 11625942"/>
                <a:gd name="connsiteY4" fmla="*/ 3703124 h 6858000"/>
                <a:gd name="connsiteX5" fmla="*/ 11625942 w 11625942"/>
                <a:gd name="connsiteY5" fmla="*/ 4320635 h 6858000"/>
                <a:gd name="connsiteX6" fmla="*/ 11471560 w 11625942"/>
                <a:gd name="connsiteY6" fmla="*/ 4475017 h 6858000"/>
                <a:gd name="connsiteX7" fmla="*/ 11091553 w 11625942"/>
                <a:gd name="connsiteY7" fmla="*/ 4475017 h 6858000"/>
                <a:gd name="connsiteX8" fmla="*/ 11091553 w 11625942"/>
                <a:gd name="connsiteY8" fmla="*/ 6858000 h 6858000"/>
                <a:gd name="connsiteX9" fmla="*/ 0 w 11625942"/>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25942" h="6858000">
                  <a:moveTo>
                    <a:pt x="0" y="0"/>
                  </a:moveTo>
                  <a:lnTo>
                    <a:pt x="11091553" y="0"/>
                  </a:lnTo>
                  <a:lnTo>
                    <a:pt x="11091553" y="3548742"/>
                  </a:lnTo>
                  <a:lnTo>
                    <a:pt x="11471560" y="3548742"/>
                  </a:lnTo>
                  <a:cubicBezTo>
                    <a:pt x="11556823" y="3548742"/>
                    <a:pt x="11625942" y="3617861"/>
                    <a:pt x="11625942" y="3703124"/>
                  </a:cubicBezTo>
                  <a:lnTo>
                    <a:pt x="11625942" y="4320635"/>
                  </a:lnTo>
                  <a:cubicBezTo>
                    <a:pt x="11625942" y="4405898"/>
                    <a:pt x="11556823" y="4475017"/>
                    <a:pt x="11471560" y="4475017"/>
                  </a:cubicBezTo>
                  <a:lnTo>
                    <a:pt x="11091553" y="4475017"/>
                  </a:lnTo>
                  <a:lnTo>
                    <a:pt x="11091553" y="6858000"/>
                  </a:lnTo>
                  <a:lnTo>
                    <a:pt x="0" y="6858000"/>
                  </a:lnTo>
                  <a:close/>
                </a:path>
              </a:pathLst>
            </a:custGeom>
            <a:grpFill/>
            <a:ln>
              <a:noFill/>
            </a:ln>
            <a:effectLst>
              <a:outerShdw blurRad="127000" dist="50800" dir="5400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TextBox 10">
              <a:extLst>
                <a:ext uri="{FF2B5EF4-FFF2-40B4-BE49-F238E27FC236}">
                  <a16:creationId xmlns:a16="http://schemas.microsoft.com/office/drawing/2014/main" id="{0DD1E71B-DDF0-F378-23BB-1BA62E4D0D9F}"/>
                </a:ext>
              </a:extLst>
            </p:cNvPr>
            <p:cNvSpPr txBox="1"/>
            <p:nvPr/>
          </p:nvSpPr>
          <p:spPr>
            <a:xfrm>
              <a:off x="10768549" y="3486152"/>
              <a:ext cx="851455" cy="1015663"/>
            </a:xfrm>
            <a:prstGeom prst="rect">
              <a:avLst/>
            </a:prstGeom>
            <a:grpFill/>
          </p:spPr>
          <p:txBody>
            <a:bodyPr wrap="square" rtlCol="0">
              <a:spAutoFit/>
            </a:bodyPr>
            <a:lstStyle/>
            <a:p>
              <a:pPr algn="ctr"/>
              <a:r>
                <a:rPr lang="en-US" sz="6000" b="1" dirty="0"/>
                <a:t>3</a:t>
              </a:r>
            </a:p>
          </p:txBody>
        </p:sp>
      </p:grpSp>
      <p:sp>
        <p:nvSpPr>
          <p:cNvPr id="14" name="TextBox 13">
            <a:extLst>
              <a:ext uri="{FF2B5EF4-FFF2-40B4-BE49-F238E27FC236}">
                <a16:creationId xmlns:a16="http://schemas.microsoft.com/office/drawing/2014/main" id="{C98FF73C-7788-A95F-E6EB-0252479EA5CD}"/>
              </a:ext>
            </a:extLst>
          </p:cNvPr>
          <p:cNvSpPr txBox="1"/>
          <p:nvPr/>
        </p:nvSpPr>
        <p:spPr>
          <a:xfrm>
            <a:off x="1371603" y="515377"/>
            <a:ext cx="8043156" cy="523220"/>
          </a:xfrm>
          <a:prstGeom prst="rect">
            <a:avLst/>
          </a:prstGeom>
          <a:noFill/>
        </p:spPr>
        <p:txBody>
          <a:bodyPr wrap="square" rtlCol="0">
            <a:spAutoFit/>
          </a:bodyPr>
          <a:lstStyle/>
          <a:p>
            <a:pPr algn="ctr"/>
            <a:r>
              <a:rPr lang="en-US" sz="2800" b="1" dirty="0"/>
              <a:t>Geography based localization for products</a:t>
            </a:r>
          </a:p>
        </p:txBody>
      </p:sp>
      <p:sp>
        <p:nvSpPr>
          <p:cNvPr id="15" name="TextBox 14">
            <a:extLst>
              <a:ext uri="{FF2B5EF4-FFF2-40B4-BE49-F238E27FC236}">
                <a16:creationId xmlns:a16="http://schemas.microsoft.com/office/drawing/2014/main" id="{D8AFFD4C-5122-083F-F366-BBEF40E7064C}"/>
              </a:ext>
            </a:extLst>
          </p:cNvPr>
          <p:cNvSpPr txBox="1"/>
          <p:nvPr/>
        </p:nvSpPr>
        <p:spPr>
          <a:xfrm>
            <a:off x="828675" y="1816362"/>
            <a:ext cx="9429750" cy="1323439"/>
          </a:xfrm>
          <a:prstGeom prst="rect">
            <a:avLst/>
          </a:prstGeom>
          <a:noFill/>
          <a:ln>
            <a:solidFill>
              <a:schemeClr val="tx1"/>
            </a:solidFill>
          </a:ln>
        </p:spPr>
        <p:txBody>
          <a:bodyPr wrap="square" rtlCol="0">
            <a:spAutoFit/>
          </a:bodyPr>
          <a:lstStyle/>
          <a:p>
            <a:pPr algn="ctr"/>
            <a:r>
              <a:rPr lang="en-US" sz="2000" b="1" dirty="0"/>
              <a:t>Strategy : </a:t>
            </a:r>
            <a:r>
              <a:rPr lang="en-US" sz="2000" dirty="0"/>
              <a:t>We can build synonym dictionaries for each country we want to scale the project into. We take shopper feedback  based on top brands/SKUs and start a pilot program in a specific market we want to target with a set precision achievement plan.</a:t>
            </a:r>
          </a:p>
        </p:txBody>
      </p:sp>
      <p:sp>
        <p:nvSpPr>
          <p:cNvPr id="16" name="TextBox 15">
            <a:extLst>
              <a:ext uri="{FF2B5EF4-FFF2-40B4-BE49-F238E27FC236}">
                <a16:creationId xmlns:a16="http://schemas.microsoft.com/office/drawing/2014/main" id="{A122B59C-F5D9-39C8-D4C3-A0A930EE8E5C}"/>
              </a:ext>
            </a:extLst>
          </p:cNvPr>
          <p:cNvSpPr txBox="1"/>
          <p:nvPr/>
        </p:nvSpPr>
        <p:spPr>
          <a:xfrm>
            <a:off x="828675" y="3364647"/>
            <a:ext cx="9429750" cy="1323439"/>
          </a:xfrm>
          <a:prstGeom prst="rect">
            <a:avLst/>
          </a:prstGeom>
          <a:noFill/>
          <a:ln>
            <a:solidFill>
              <a:schemeClr val="tx1"/>
            </a:solidFill>
          </a:ln>
        </p:spPr>
        <p:txBody>
          <a:bodyPr wrap="square" rtlCol="0">
            <a:spAutoFit/>
          </a:bodyPr>
          <a:lstStyle/>
          <a:p>
            <a:pPr algn="ctr"/>
            <a:r>
              <a:rPr lang="en-US" sz="2000" b="1" dirty="0"/>
              <a:t>Benefits :</a:t>
            </a:r>
          </a:p>
          <a:p>
            <a:pPr marL="342900" indent="-342900" algn="ctr">
              <a:buFont typeface="Arial" panose="020B0604020202020204" pitchFamily="34" charset="0"/>
              <a:buChar char="•"/>
            </a:pPr>
            <a:r>
              <a:rPr lang="en-US" sz="2000" b="1" dirty="0"/>
              <a:t>This can widen our market base and can help us diversify our portfolio.</a:t>
            </a:r>
          </a:p>
          <a:p>
            <a:pPr marL="342900" indent="-342900" algn="ctr">
              <a:buFont typeface="Arial" panose="020B0604020202020204" pitchFamily="34" charset="0"/>
              <a:buChar char="•"/>
            </a:pPr>
            <a:r>
              <a:rPr lang="en-US" sz="2000" b="1" dirty="0"/>
              <a:t>It would also reduce the workload on Ops team as we create different dictionary maps here, that would be reusable for different countries.  </a:t>
            </a:r>
          </a:p>
        </p:txBody>
      </p:sp>
      <p:sp>
        <p:nvSpPr>
          <p:cNvPr id="17" name="TextBox 16">
            <a:extLst>
              <a:ext uri="{FF2B5EF4-FFF2-40B4-BE49-F238E27FC236}">
                <a16:creationId xmlns:a16="http://schemas.microsoft.com/office/drawing/2014/main" id="{2A030315-146A-C11A-4D2B-9345BF8FE024}"/>
              </a:ext>
            </a:extLst>
          </p:cNvPr>
          <p:cNvSpPr txBox="1"/>
          <p:nvPr/>
        </p:nvSpPr>
        <p:spPr>
          <a:xfrm>
            <a:off x="828675" y="4912932"/>
            <a:ext cx="9429750" cy="1015663"/>
          </a:xfrm>
          <a:prstGeom prst="rect">
            <a:avLst/>
          </a:prstGeom>
          <a:noFill/>
          <a:ln>
            <a:solidFill>
              <a:schemeClr val="tx1"/>
            </a:solidFill>
          </a:ln>
        </p:spPr>
        <p:txBody>
          <a:bodyPr wrap="square" rtlCol="0">
            <a:spAutoFit/>
          </a:bodyPr>
          <a:lstStyle/>
          <a:p>
            <a:pPr algn="ctr"/>
            <a:r>
              <a:rPr lang="en-US" sz="2000" b="1" dirty="0"/>
              <a:t>Cons :</a:t>
            </a:r>
          </a:p>
          <a:p>
            <a:pPr marL="342900" indent="-342900" algn="ctr">
              <a:buFont typeface="Arial" panose="020B0604020202020204" pitchFamily="34" charset="0"/>
              <a:buChar char="•"/>
            </a:pPr>
            <a:r>
              <a:rPr lang="en-US" sz="2000" b="1" dirty="0"/>
              <a:t>Incorrect data mapping may lead to inconsistencies across markets.</a:t>
            </a:r>
          </a:p>
          <a:p>
            <a:pPr marL="342900" indent="-342900" algn="ctr">
              <a:buFont typeface="Arial" panose="020B0604020202020204" pitchFamily="34" charset="0"/>
              <a:buChar char="•"/>
            </a:pPr>
            <a:r>
              <a:rPr lang="en-US" sz="2000" b="1" dirty="0"/>
              <a:t>Cost can be high since it needs to scale globally.</a:t>
            </a:r>
          </a:p>
        </p:txBody>
      </p:sp>
    </p:spTree>
    <p:extLst>
      <p:ext uri="{BB962C8B-B14F-4D97-AF65-F5344CB8AC3E}">
        <p14:creationId xmlns:p14="http://schemas.microsoft.com/office/powerpoint/2010/main" val="37292457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B4BF17B-F7CA-3742-730C-EFFE5B42D43F}"/>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C43531A7-DAB5-E977-8323-D0B033FA5974}"/>
              </a:ext>
            </a:extLst>
          </p:cNvPr>
          <p:cNvGrpSpPr/>
          <p:nvPr/>
        </p:nvGrpSpPr>
        <p:grpSpPr>
          <a:xfrm>
            <a:off x="0" y="0"/>
            <a:ext cx="11715750" cy="6858000"/>
            <a:chOff x="0" y="0"/>
            <a:chExt cx="11715750" cy="6858000"/>
          </a:xfrm>
        </p:grpSpPr>
        <p:sp>
          <p:nvSpPr>
            <p:cNvPr id="3" name="Rectangle 2">
              <a:extLst>
                <a:ext uri="{FF2B5EF4-FFF2-40B4-BE49-F238E27FC236}">
                  <a16:creationId xmlns:a16="http://schemas.microsoft.com/office/drawing/2014/main" id="{E8909ACC-54B0-3CB0-B6AC-21EB248E5F4E}"/>
                </a:ext>
              </a:extLst>
            </p:cNvPr>
            <p:cNvSpPr/>
            <p:nvPr/>
          </p:nvSpPr>
          <p:spPr>
            <a:xfrm>
              <a:off x="0" y="0"/>
              <a:ext cx="11029950"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158983E-C5BD-B3DC-0AF6-2F869668A162}"/>
                </a:ext>
              </a:extLst>
            </p:cNvPr>
            <p:cNvSpPr/>
            <p:nvPr/>
          </p:nvSpPr>
          <p:spPr>
            <a:xfrm>
              <a:off x="10587038" y="5243513"/>
              <a:ext cx="1128712" cy="1028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F75AAFBD-8D48-9E89-677B-521423CF3496}"/>
              </a:ext>
            </a:extLst>
          </p:cNvPr>
          <p:cNvSpPr txBox="1"/>
          <p:nvPr/>
        </p:nvSpPr>
        <p:spPr>
          <a:xfrm>
            <a:off x="10864295" y="5256550"/>
            <a:ext cx="851455" cy="1015663"/>
          </a:xfrm>
          <a:prstGeom prst="rect">
            <a:avLst/>
          </a:prstGeom>
          <a:solidFill>
            <a:schemeClr val="bg1"/>
          </a:solidFill>
        </p:spPr>
        <p:txBody>
          <a:bodyPr wrap="square" rtlCol="0">
            <a:spAutoFit/>
          </a:bodyPr>
          <a:lstStyle/>
          <a:p>
            <a:pPr algn="ctr"/>
            <a:r>
              <a:rPr lang="en-US" sz="6000" b="1" dirty="0"/>
              <a:t>4</a:t>
            </a:r>
          </a:p>
        </p:txBody>
      </p:sp>
      <p:sp>
        <p:nvSpPr>
          <p:cNvPr id="8" name="TextBox 7">
            <a:extLst>
              <a:ext uri="{FF2B5EF4-FFF2-40B4-BE49-F238E27FC236}">
                <a16:creationId xmlns:a16="http://schemas.microsoft.com/office/drawing/2014/main" id="{11B5628C-ACA6-8280-924F-813D0AA2FB9C}"/>
              </a:ext>
            </a:extLst>
          </p:cNvPr>
          <p:cNvSpPr txBox="1"/>
          <p:nvPr/>
        </p:nvSpPr>
        <p:spPr>
          <a:xfrm>
            <a:off x="985842" y="515377"/>
            <a:ext cx="8843259" cy="523220"/>
          </a:xfrm>
          <a:prstGeom prst="rect">
            <a:avLst/>
          </a:prstGeom>
          <a:noFill/>
        </p:spPr>
        <p:txBody>
          <a:bodyPr wrap="square" rtlCol="0">
            <a:spAutoFit/>
          </a:bodyPr>
          <a:lstStyle/>
          <a:p>
            <a:pPr algn="ctr"/>
            <a:r>
              <a:rPr lang="en-US" sz="2800" b="1" dirty="0"/>
              <a:t>Merchant training to standardize naming conventions</a:t>
            </a:r>
          </a:p>
        </p:txBody>
      </p:sp>
      <p:sp>
        <p:nvSpPr>
          <p:cNvPr id="9" name="TextBox 8">
            <a:extLst>
              <a:ext uri="{FF2B5EF4-FFF2-40B4-BE49-F238E27FC236}">
                <a16:creationId xmlns:a16="http://schemas.microsoft.com/office/drawing/2014/main" id="{20313CAB-3F60-019A-AD35-602821DBD036}"/>
              </a:ext>
            </a:extLst>
          </p:cNvPr>
          <p:cNvSpPr txBox="1"/>
          <p:nvPr/>
        </p:nvSpPr>
        <p:spPr>
          <a:xfrm>
            <a:off x="748745" y="1316301"/>
            <a:ext cx="9429750" cy="6401753"/>
          </a:xfrm>
          <a:prstGeom prst="rect">
            <a:avLst/>
          </a:prstGeom>
          <a:noFill/>
          <a:ln>
            <a:noFill/>
          </a:ln>
        </p:spPr>
        <p:txBody>
          <a:bodyPr wrap="square" rtlCol="0">
            <a:spAutoFit/>
          </a:bodyPr>
          <a:lstStyle/>
          <a:p>
            <a:pPr marL="342900" indent="-342900" algn="ctr">
              <a:buFont typeface="Arial" panose="020B0604020202020204" pitchFamily="34" charset="0"/>
              <a:buChar char="•"/>
            </a:pPr>
            <a:r>
              <a:rPr lang="en-US" sz="2000" b="1" dirty="0"/>
              <a:t>Strategy : </a:t>
            </a:r>
            <a:r>
              <a:rPr lang="en-US" sz="2000" dirty="0"/>
              <a:t>My strategy </a:t>
            </a:r>
            <a:r>
              <a:rPr lang="en-US" dirty="0"/>
              <a:t>for this crucial step would be to educate the merchants in a way that we are able to get the first step prioritized before even moving to improving the catalog quality.</a:t>
            </a:r>
          </a:p>
          <a:p>
            <a:pPr marL="342900" indent="-342900" algn="ctr">
              <a:buFont typeface="Arial" panose="020B0604020202020204" pitchFamily="34" charset="0"/>
              <a:buChar char="•"/>
            </a:pPr>
            <a:r>
              <a:rPr lang="en-US" sz="2000" dirty="0"/>
              <a:t>For this , we could set up frequent training calls with them &amp; provide a short demo of how we would want our dataset to be in. Giving them an example demo would be great because it would help them understand how we interpret the data and that would help us get rid of the columns that we do not need or that are not relevant to our analysis. </a:t>
            </a:r>
          </a:p>
          <a:p>
            <a:pPr marL="342900" indent="-342900" algn="ctr">
              <a:buFont typeface="Arial" panose="020B0604020202020204" pitchFamily="34" charset="0"/>
              <a:buChar char="•"/>
            </a:pPr>
            <a:r>
              <a:rPr lang="en-US" sz="2000" dirty="0"/>
              <a:t>Before they upload their data, we can create a validation tool that lets us have a checker list before we even start with the data preprocessing. </a:t>
            </a:r>
          </a:p>
          <a:p>
            <a:pPr marL="342900" indent="-342900" algn="ctr">
              <a:buFont typeface="Arial" panose="020B0604020202020204" pitchFamily="34" charset="0"/>
              <a:buChar char="•"/>
            </a:pPr>
            <a:r>
              <a:rPr lang="en-US" sz="2000" dirty="0"/>
              <a:t>This will allow us to collab with our Engineering teams to be our Merchant pipeline where we have a script ready to be provided to the Merchants that way whenever they enter a SKU/product that is already existing in the system, our system can flag it in real time to them saying that this is a potential duplicate product.</a:t>
            </a:r>
          </a:p>
          <a:p>
            <a:pPr marL="342900" indent="-342900" algn="ctr">
              <a:buFont typeface="Arial" panose="020B0604020202020204" pitchFamily="34" charset="0"/>
              <a:buChar char="•"/>
            </a:pPr>
            <a:endParaRPr lang="en-US" sz="2000" dirty="0"/>
          </a:p>
          <a:p>
            <a:pPr marL="342900" indent="-342900" algn="ctr">
              <a:buFont typeface="Arial" panose="020B0604020202020204" pitchFamily="34" charset="0"/>
              <a:buChar char="•"/>
            </a:pPr>
            <a:endParaRPr lang="en-US" sz="2000" dirty="0"/>
          </a:p>
          <a:p>
            <a:pPr marL="342900" indent="-342900" algn="ctr">
              <a:buFont typeface="Arial" panose="020B0604020202020204" pitchFamily="34" charset="0"/>
              <a:buChar char="•"/>
            </a:pPr>
            <a:endParaRPr lang="en-US" dirty="0"/>
          </a:p>
          <a:p>
            <a:pPr marL="342900" indent="-342900" algn="ctr">
              <a:buFont typeface="Arial" panose="020B0604020202020204" pitchFamily="34" charset="0"/>
              <a:buChar char="•"/>
            </a:pPr>
            <a:endParaRPr lang="en-US" dirty="0"/>
          </a:p>
          <a:p>
            <a:pPr algn="ctr"/>
            <a:r>
              <a:rPr lang="en-US" dirty="0"/>
              <a:t> </a:t>
            </a:r>
          </a:p>
          <a:p>
            <a:pPr algn="ctr"/>
            <a:endParaRPr lang="en-US" sz="2000" dirty="0"/>
          </a:p>
        </p:txBody>
      </p:sp>
    </p:spTree>
    <p:extLst>
      <p:ext uri="{BB962C8B-B14F-4D97-AF65-F5344CB8AC3E}">
        <p14:creationId xmlns:p14="http://schemas.microsoft.com/office/powerpoint/2010/main" val="7888967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2976D48-25F4-E6D6-1F8A-D57DCF61C42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02C1345-E2E2-FA00-3038-19E7FA66A98F}"/>
              </a:ext>
            </a:extLst>
          </p:cNvPr>
          <p:cNvSpPr txBox="1"/>
          <p:nvPr/>
        </p:nvSpPr>
        <p:spPr>
          <a:xfrm>
            <a:off x="3732206" y="2967335"/>
            <a:ext cx="7715250" cy="923330"/>
          </a:xfrm>
          <a:prstGeom prst="rect">
            <a:avLst/>
          </a:prstGeom>
          <a:noFill/>
        </p:spPr>
        <p:txBody>
          <a:bodyPr wrap="square" rtlCol="0">
            <a:spAutoFit/>
          </a:bodyPr>
          <a:lstStyle/>
          <a:p>
            <a:r>
              <a:rPr lang="en-US" sz="5400" b="1" dirty="0">
                <a:solidFill>
                  <a:schemeClr val="bg1"/>
                </a:solidFill>
              </a:rPr>
              <a:t>THANK YOU!!!</a:t>
            </a:r>
          </a:p>
        </p:txBody>
      </p:sp>
    </p:spTree>
    <p:extLst>
      <p:ext uri="{BB962C8B-B14F-4D97-AF65-F5344CB8AC3E}">
        <p14:creationId xmlns:p14="http://schemas.microsoft.com/office/powerpoint/2010/main" val="359027627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Override1.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themeOverride>
</file>

<file path=docProps/app.xml><?xml version="1.0" encoding="utf-8"?>
<Properties xmlns="http://schemas.openxmlformats.org/officeDocument/2006/extended-properties" xmlns:vt="http://schemas.openxmlformats.org/officeDocument/2006/docPropsVTypes">
  <Template/>
  <TotalTime>4170</TotalTime>
  <Words>2147</Words>
  <Application>Microsoft Macintosh PowerPoint</Application>
  <PresentationFormat>Widescreen</PresentationFormat>
  <Paragraphs>216</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Aharoni</vt:lpstr>
      <vt:lpstr>Aptos</vt:lpstr>
      <vt:lpstr>Aptos Display</vt:lpstr>
      <vt:lpstr>Arial</vt:lpstr>
      <vt:lpstr>Office Theme</vt:lpstr>
      <vt:lpstr>PowerPoint Presentation</vt:lpstr>
      <vt:lpstr>Case Statement &amp; Project Goal</vt:lpstr>
      <vt:lpstr>Data Cleaning Strategy</vt:lpstr>
      <vt:lpstr>Feature Engineering</vt:lpstr>
      <vt:lpstr>Insights from Standardization</vt:lpstr>
      <vt:lpstr>AI Prompt Strategy</vt:lpstr>
      <vt:lpstr>AI Prompt Evolution Strategy</vt:lpstr>
      <vt:lpstr>AI Prompt Classification Logic Workflow</vt:lpstr>
      <vt:lpstr>Detecting Duplicate Types</vt:lpstr>
      <vt:lpstr>PowerPoint Presentation</vt:lpstr>
      <vt:lpstr>Adding Visualizations to Duplicates</vt:lpstr>
      <vt:lpstr>Adding Visualizations to Duplicates</vt:lpstr>
      <vt:lpstr>Adding Visualizations to Duplicates</vt:lpstr>
      <vt:lpstr>Adding Visualizations to Duplicates</vt:lpstr>
      <vt:lpstr>Before &amp; After Product name changes</vt:lpstr>
      <vt:lpstr>Fixing the Catalog</vt:lpstr>
      <vt:lpstr>Fix Recommendations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Daryll Dalmeida</dc:creator>
  <cp:lastModifiedBy>Daryll Dalmeida</cp:lastModifiedBy>
  <cp:revision>436</cp:revision>
  <dcterms:created xsi:type="dcterms:W3CDTF">2025-08-11T22:54:21Z</dcterms:created>
  <dcterms:modified xsi:type="dcterms:W3CDTF">2026-01-04T01:33:46Z</dcterms:modified>
</cp:coreProperties>
</file>